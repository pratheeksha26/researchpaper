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92856de-0f9d-893e-db10-8fe11cf1c29e}">
          <p14:sldIdLst>
            <p14:sldId id="256"/>
          </p14:sldIdLst>
        </p14:section>
        <p14:section name="Background" id="{51761291-fea7-ed19-13b1-892eda798be7}">
          <p14:sldIdLst>
            <p14:sldId id="257"/>
            <p14:sldId id="258"/>
            <p14:sldId id="259"/>
            <p14:sldId id="260"/>
          </p14:sldIdLst>
        </p14:section>
        <p14:section name="Study" id="{704ea6b1-685f-347b-2bef-772f49a49149}">
          <p14:sldIdLst>
            <p14:sldId id="261"/>
            <p14:sldId id="262"/>
            <p14:sldId id="263"/>
          </p14:sldIdLst>
        </p14:section>
        <p14:section name="Outcome" id="{345398d2-0402-6240-7308-9be773142458}">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How well each search method finds related papers</a:t>
            </a:r>
          </a:p>
        </c:rich>
      </c:tx>
      <c:layout/>
      <c:overlay val="0"/>
    </c:title>
    <c:autoTitleDeleted val="0"/>
    <c:plotArea>
      <c:layout/>
      <c:barChart>
        <c:barDir val="col"/>
        <c:grouping val="clustered"/>
        <c:varyColors val="0"/>
        <c:ser>
          <c:idx val="0"/>
          <c:order val="0"/>
          <c:tx>
            <c:strRef>
              <c:f>Sheet1!$B$1</c:f>
              <c:strCache>
                <c:ptCount val="1"/>
                <c:pt idx="0">
                  <c:v>BM25</c:v>
                </c:pt>
              </c:strCache>
            </c:strRef>
          </c:tx>
          <c:spPr>
            <a:solidFill>
              <a:srgbClr val="5B6C8F"/>
            </a:solidFill>
            <a:effectLst/>
          </c:spPr>
          <c:invertIfNegative val="0"/>
          <c:dLbls>
            <c:numFmt formatCode="0.000" sourceLinked="0"/>
            <c:txPr>
              <a:bodyPr/>
              <a:lstStyle/>
              <a:p>
                <a:pPr>
                  <a:defRPr b="0" i="0" strike="noStrike" sz="900" u="none">
                    <a:solidFill>
                      <a:srgbClr val="10212B"/>
                    </a:solidFill>
                    <a:latin typeface="+mn-lt"/>
                  </a:defRPr>
                </a:pPr>
              </a:p>
            </c:txPr>
            <c:showLegendKey val="0"/>
            <c:showVal val="1"/>
            <c:showCatName val="0"/>
            <c:showSerName val="0"/>
            <c:showPercent val="0"/>
            <c:showBubbleSize val="0"/>
            <c:showLeaderLines val="0"/>
          </c:dLbls>
          <c:cat>
            <c:multiLvlStrRef>
              <c:f>Sheet1!$A$2:$A$5</c:f>
              <c:multiLvlStrCache>
                <c:ptCount val="4"/>
                <c:lvl>
                  <c:pt idx="0">
                    <c:v>Precision@10</c:v>
                  </c:pt>
                  <c:pt idx="1">
                    <c:v>nDCG@10</c:v>
                  </c:pt>
                  <c:pt idx="2">
                    <c:v>nDCG@20</c:v>
                  </c:pt>
                  <c:pt idx="3">
                    <c:v>MAP</c:v>
                  </c:pt>
                </c:lvl>
              </c:multiLvlStrCache>
            </c:multiLvlStrRef>
          </c:cat>
          <c:val>
            <c:numRef>
              <c:f>Sheet1!$B$2:$B$5</c:f>
              <c:numCache>
                <c:formatCode>General</c:formatCode>
                <c:ptCount val="4"/>
                <c:pt idx="0">
                  <c:v>0.495</c:v>
                </c:pt>
                <c:pt idx="1">
                  <c:v>0.49</c:v>
                </c:pt>
                <c:pt idx="2">
                  <c:v>0.454</c:v>
                </c:pt>
                <c:pt idx="3">
                  <c:v>0.215</c:v>
                </c:pt>
              </c:numCache>
            </c:numRef>
          </c:val>
        </c:ser>
        <c:ser>
          <c:idx val="1"/>
          <c:order val="1"/>
          <c:tx>
            <c:strRef>
              <c:f>Sheet1!$C$1</c:f>
              <c:strCache>
                <c:ptCount val="1"/>
                <c:pt idx="0">
                  <c:v>Dense (BGE)</c:v>
                </c:pt>
              </c:strCache>
            </c:strRef>
          </c:tx>
          <c:spPr>
            <a:solidFill>
              <a:srgbClr val="0B7A75"/>
            </a:solidFill>
            <a:effectLst/>
          </c:spPr>
          <c:invertIfNegative val="0"/>
          <c:dLbls>
            <c:numFmt formatCode="0.000" sourceLinked="0"/>
            <c:txPr>
              <a:bodyPr/>
              <a:lstStyle/>
              <a:p>
                <a:pPr>
                  <a:defRPr b="0" i="0" strike="noStrike" sz="900" u="none">
                    <a:solidFill>
                      <a:srgbClr val="10212B"/>
                    </a:solidFill>
                    <a:latin typeface="+mn-lt"/>
                  </a:defRPr>
                </a:pPr>
              </a:p>
            </c:txPr>
            <c:showLegendKey val="0"/>
            <c:showVal val="1"/>
            <c:showCatName val="0"/>
            <c:showSerName val="0"/>
            <c:showPercent val="0"/>
            <c:showBubbleSize val="0"/>
            <c:showLeaderLines val="0"/>
          </c:dLbls>
          <c:cat>
            <c:multiLvlStrRef>
              <c:f>Sheet1!$A$2:$A$5</c:f>
              <c:multiLvlStrCache>
                <c:ptCount val="4"/>
                <c:lvl>
                  <c:pt idx="0">
                    <c:v>Precision@10</c:v>
                  </c:pt>
                  <c:pt idx="1">
                    <c:v>nDCG@10</c:v>
                  </c:pt>
                  <c:pt idx="2">
                    <c:v>nDCG@20</c:v>
                  </c:pt>
                  <c:pt idx="3">
                    <c:v>MAP</c:v>
                  </c:pt>
                </c:lvl>
              </c:multiLvlStrCache>
            </c:multiLvlStrRef>
          </c:cat>
          <c:val>
            <c:numRef>
              <c:f>Sheet1!$C$2:$C$5</c:f>
              <c:numCache>
                <c:formatCode>General</c:formatCode>
                <c:ptCount val="4"/>
                <c:pt idx="0">
                  <c:v>0.547</c:v>
                </c:pt>
                <c:pt idx="1">
                  <c:v>0.568</c:v>
                </c:pt>
                <c:pt idx="2">
                  <c:v>0.489</c:v>
                </c:pt>
                <c:pt idx="3">
                  <c:v>0.261</c:v>
                </c:pt>
              </c:numCache>
            </c:numRef>
          </c:val>
        </c:ser>
        <c:ser>
          <c:idx val="2"/>
          <c:order val="2"/>
          <c:tx>
            <c:strRef>
              <c:f>Sheet1!$D$1</c:f>
              <c:strCache>
                <c:ptCount val="1"/>
                <c:pt idx="0">
                  <c:v>RRF (k = 60)</c:v>
                </c:pt>
              </c:strCache>
            </c:strRef>
          </c:tx>
          <c:spPr>
            <a:solidFill>
              <a:srgbClr val="E4572E"/>
            </a:solidFill>
            <a:effectLst/>
          </c:spPr>
          <c:invertIfNegative val="0"/>
          <c:dLbls>
            <c:numFmt formatCode="0.000" sourceLinked="0"/>
            <c:txPr>
              <a:bodyPr/>
              <a:lstStyle/>
              <a:p>
                <a:pPr>
                  <a:defRPr b="0" i="0" strike="noStrike" sz="900" u="none">
                    <a:solidFill>
                      <a:srgbClr val="10212B"/>
                    </a:solidFill>
                    <a:latin typeface="+mn-lt"/>
                  </a:defRPr>
                </a:pPr>
              </a:p>
            </c:txPr>
            <c:showLegendKey val="0"/>
            <c:showVal val="1"/>
            <c:showCatName val="0"/>
            <c:showSerName val="0"/>
            <c:showPercent val="0"/>
            <c:showBubbleSize val="0"/>
            <c:showLeaderLines val="0"/>
          </c:dLbls>
          <c:cat>
            <c:multiLvlStrRef>
              <c:f>Sheet1!$A$2:$A$5</c:f>
              <c:multiLvlStrCache>
                <c:ptCount val="4"/>
                <c:lvl>
                  <c:pt idx="0">
                    <c:v>Precision@10</c:v>
                  </c:pt>
                  <c:pt idx="1">
                    <c:v>nDCG@10</c:v>
                  </c:pt>
                  <c:pt idx="2">
                    <c:v>nDCG@20</c:v>
                  </c:pt>
                  <c:pt idx="3">
                    <c:v>MAP</c:v>
                  </c:pt>
                </c:lvl>
              </c:multiLvlStrCache>
            </c:multiLvlStrRef>
          </c:cat>
          <c:val>
            <c:numRef>
              <c:f>Sheet1!$D$2:$D$5</c:f>
              <c:numCache>
                <c:formatCode>General</c:formatCode>
                <c:ptCount val="4"/>
                <c:pt idx="0">
                  <c:v>0.521</c:v>
                </c:pt>
                <c:pt idx="1">
                  <c:v>0.533</c:v>
                </c:pt>
                <c:pt idx="2">
                  <c:v>0.503</c:v>
                </c:pt>
                <c:pt idx="3">
                  <c:v>0.271</c:v>
                </c:pt>
              </c:numCache>
            </c:numRef>
          </c:val>
        </c:ser>
        <c:dLbls>
          <c:numFmt formatCode="0.000" sourceLinked="0"/>
          <c:txPr>
            <a:bodyPr/>
            <a:lstStyle/>
            <a:p>
              <a:pPr>
                <a:defRPr b="0" i="0" strike="noStrike" sz="900" u="none">
                  <a:solidFill>
                    <a:srgbClr val="1021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0212B"/>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5E1E1"/>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C8F"/>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100">
              <a:solidFill>
                <a:srgbClr val="1021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How closely the AI matches human labels (76 papers)</a:t>
            </a:r>
          </a:p>
        </c:rich>
      </c:tx>
      <c:layout/>
      <c:overlay val="0"/>
    </c:title>
    <c:autoTitleDeleted val="0"/>
    <c:plotArea>
      <c:layout/>
      <c:barChart>
        <c:barDir val="col"/>
        <c:grouping val="clustered"/>
        <c:varyColors val="0"/>
        <c:ser>
          <c:idx val="0"/>
          <c:order val="0"/>
          <c:tx>
            <c:strRef>
              <c:f>Sheet1!$B$1</c:f>
              <c:strCache>
                <c:ptCount val="1"/>
                <c:pt idx="0">
                  <c:v>Exact words</c:v>
                </c:pt>
              </c:strCache>
            </c:strRef>
          </c:tx>
          <c:spPr>
            <a:solidFill>
              <a:srgbClr val="E4572E"/>
            </a:solidFill>
            <a:effectLst/>
          </c:spPr>
          <c:invertIfNegative val="0"/>
          <c:dLbls>
            <c:numFmt formatCode="0.000" sourceLinked="0"/>
            <c:txPr>
              <a:bodyPr/>
              <a:lstStyle/>
              <a:p>
                <a:pPr>
                  <a:defRPr b="0" i="0" strike="noStrike" sz="900" u="none">
                    <a:solidFill>
                      <a:srgbClr val="10212B"/>
                    </a:solidFill>
                    <a:latin typeface="+mn-lt"/>
                  </a:defRPr>
                </a:pPr>
              </a:p>
            </c:txPr>
            <c:showLegendKey val="0"/>
            <c:showVal val="1"/>
            <c:showCatName val="0"/>
            <c:showSerName val="0"/>
            <c:showPercent val="0"/>
            <c:showBubbleSize val="0"/>
            <c:showLeaderLines val="0"/>
          </c:dLbls>
          <c:cat>
            <c:multiLvlStrRef>
              <c:f>Sheet1!$A$2:$A$7</c:f>
              <c:multiLvlStrCache>
                <c:ptCount val="6"/>
                <c:lvl>
                  <c:pt idx="0">
                    <c:v>Task</c:v>
                  </c:pt>
                  <c:pt idx="1">
                    <c:v>Method</c:v>
                  </c:pt>
                  <c:pt idx="2">
                    <c:v>Dataset</c:v>
                  </c:pt>
                  <c:pt idx="3">
                    <c:v>Metric</c:v>
                  </c:pt>
                  <c:pt idx="4">
                    <c:v>Setting</c:v>
                  </c:pt>
                  <c:pt idx="5">
                    <c:v>Future work</c:v>
                  </c:pt>
                </c:lvl>
              </c:multiLvlStrCache>
            </c:multiLvlStrRef>
          </c:cat>
          <c:val>
            <c:numRef>
              <c:f>Sheet1!$B$2:$B$7</c:f>
              <c:numCache>
                <c:formatCode>General</c:formatCode>
                <c:ptCount val="6"/>
                <c:pt idx="0">
                  <c:v>0.329</c:v>
                </c:pt>
                <c:pt idx="1">
                  <c:v>0</c:v>
                </c:pt>
                <c:pt idx="2">
                  <c:v>0.039</c:v>
                </c:pt>
                <c:pt idx="3">
                  <c:v>0.059</c:v>
                </c:pt>
                <c:pt idx="4">
                  <c:v>0.018</c:v>
                </c:pt>
                <c:pt idx="5">
                  <c:v>0</c:v>
                </c:pt>
              </c:numCache>
            </c:numRef>
          </c:val>
        </c:ser>
        <c:ser>
          <c:idx val="1"/>
          <c:order val="1"/>
          <c:tx>
            <c:strRef>
              <c:f>Sheet1!$C$1</c:f>
              <c:strCache>
                <c:ptCount val="1"/>
                <c:pt idx="0">
                  <c:v>Meaning counted</c:v>
                </c:pt>
              </c:strCache>
            </c:strRef>
          </c:tx>
          <c:spPr>
            <a:solidFill>
              <a:srgbClr val="0B7A75"/>
            </a:solidFill>
            <a:effectLst/>
          </c:spPr>
          <c:invertIfNegative val="0"/>
          <c:dLbls>
            <c:numFmt formatCode="0.000" sourceLinked="0"/>
            <c:txPr>
              <a:bodyPr/>
              <a:lstStyle/>
              <a:p>
                <a:pPr>
                  <a:defRPr b="0" i="0" strike="noStrike" sz="900" u="none">
                    <a:solidFill>
                      <a:srgbClr val="10212B"/>
                    </a:solidFill>
                    <a:latin typeface="+mn-lt"/>
                  </a:defRPr>
                </a:pPr>
              </a:p>
            </c:txPr>
            <c:showLegendKey val="0"/>
            <c:showVal val="1"/>
            <c:showCatName val="0"/>
            <c:showSerName val="0"/>
            <c:showPercent val="0"/>
            <c:showBubbleSize val="0"/>
            <c:showLeaderLines val="0"/>
          </c:dLbls>
          <c:cat>
            <c:multiLvlStrRef>
              <c:f>Sheet1!$A$2:$A$7</c:f>
              <c:multiLvlStrCache>
                <c:ptCount val="6"/>
                <c:lvl>
                  <c:pt idx="0">
                    <c:v>Task</c:v>
                  </c:pt>
                  <c:pt idx="1">
                    <c:v>Method</c:v>
                  </c:pt>
                  <c:pt idx="2">
                    <c:v>Dataset</c:v>
                  </c:pt>
                  <c:pt idx="3">
                    <c:v>Metric</c:v>
                  </c:pt>
                  <c:pt idx="4">
                    <c:v>Setting</c:v>
                  </c:pt>
                  <c:pt idx="5">
                    <c:v>Future work</c:v>
                  </c:pt>
                </c:lvl>
              </c:multiLvlStrCache>
            </c:multiLvlStrRef>
          </c:cat>
          <c:val>
            <c:numRef>
              <c:f>Sheet1!$C$2:$C$7</c:f>
              <c:numCache>
                <c:formatCode>General</c:formatCode>
                <c:ptCount val="6"/>
                <c:pt idx="0">
                  <c:v>0.9</c:v>
                </c:pt>
                <c:pt idx="1">
                  <c:v>0.748</c:v>
                </c:pt>
                <c:pt idx="2">
                  <c:v>0.725</c:v>
                </c:pt>
                <c:pt idx="3">
                  <c:v>0.765</c:v>
                </c:pt>
                <c:pt idx="4">
                  <c:v>0.5</c:v>
                </c:pt>
                <c:pt idx="5">
                  <c:v>0.909</c:v>
                </c:pt>
              </c:numCache>
            </c:numRef>
          </c:val>
        </c:ser>
        <c:dLbls>
          <c:numFmt formatCode="0.000" sourceLinked="0"/>
          <c:txPr>
            <a:bodyPr/>
            <a:lstStyle/>
            <a:p>
              <a:pPr>
                <a:defRPr b="0" i="0" strike="noStrike" sz="900" u="none">
                  <a:solidFill>
                    <a:srgbClr val="1021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0212B"/>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5E1E1"/>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C8F"/>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100">
              <a:solidFill>
                <a:srgbClr val="1021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title, the two authors and the two guides.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abstract in three sentences: what was audited, what was found about the corpus, and what the retrieval and extraction results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is not only a poor language model: the corpus, the retrieval and the extraction can each quietly produce a convincing but unsupported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objective maps to one research question in the paper (RQ1 to RQ4).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from background to the gap this study fills, then state the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papers supply the topic vocabulary and the discovery premise; the last four are the language-model and retrieval work this study builds on. Note that most prior work evaluates generated output, not the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existing work does not cover. Right: the honest limits of this study, which the paper reports candidly.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Ten-step workflow: steps 1 to 5 build and audit the corpus; step 6 benchmarks retrieval on a separate earlier-stage pool; steps 7 to 10 run on corpus v4. Step 10, the sparsity test, gave a negative result, so it is shaded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Corpus: early versions drifted off-topic (only 34 of 50 sampled v2 records, 68%, were on-topic; only 2 of 18 from 2015–2018). The final collection came from 2,879 identified records. Search: meaning-based search led on nDCG@10 (0.568) but an earlier significant result did not repeat once abstracts were fixed; RRF was highest on nDCG@20 and MAP. Extraction: all 1,951 papers gave valid output; 6,858 of 7,218 quotes (95.0%) matched exactly and 7,031 spans were kept. Human check: paper-type F1 0.883. Exact scoring gave Method F1 0.000 but meaning-based scoring gave 0.748, so the scoring design can reverse conclusions. Sparsity: 802 of 806 non-empty cells were singletons (99.5%), so none could be tested; after grouping, 192 cells were testable and none survived the false-alarm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take-home message: audit the inputs before trusting the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and results: https://github.com/Pratheeksha26/ResearchPaper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3C4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Auditing the Evidence Behind Research-Gap Discovery</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Auditing the Evidence Behind Research-Gap Discovery</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raph edge"/>
          <p:cNvSpPr/>
          <p:nvPr/>
        </p:nvSpPr>
        <p:spPr>
          <a:xfrm flipV="1">
            <a:off x="9418320" y="3383280"/>
            <a:ext cx="1463040" cy="365760"/>
          </a:xfrm>
          <a:prstGeom prst="line">
            <a:avLst/>
          </a:prstGeom>
          <a:noFill/>
          <a:ln w="19050">
            <a:solidFill>
              <a:schemeClr val="accent5"/>
            </a:solidFill>
            <a:prstDash val="solid"/>
          </a:ln>
        </p:spPr>
      </p:sp>
      <p:sp>
        <p:nvSpPr>
          <p:cNvPr id="3" name="Graph edge"/>
          <p:cNvSpPr/>
          <p:nvPr/>
        </p:nvSpPr>
        <p:spPr>
          <a:xfrm>
            <a:off x="10881360" y="3383280"/>
            <a:ext cx="365760" cy="1463040"/>
          </a:xfrm>
          <a:prstGeom prst="line">
            <a:avLst/>
          </a:prstGeom>
          <a:noFill/>
          <a:ln w="19050">
            <a:solidFill>
              <a:schemeClr val="accent5"/>
            </a:solidFill>
            <a:prstDash val="solid"/>
          </a:ln>
        </p:spPr>
      </p:sp>
      <p:sp>
        <p:nvSpPr>
          <p:cNvPr id="4" name="Graph edge"/>
          <p:cNvSpPr/>
          <p:nvPr/>
        </p:nvSpPr>
        <p:spPr>
          <a:xfrm flipV="1">
            <a:off x="9966960" y="4846320"/>
            <a:ext cx="1280160" cy="548640"/>
          </a:xfrm>
          <a:prstGeom prst="line">
            <a:avLst/>
          </a:prstGeom>
          <a:noFill/>
          <a:ln w="19050">
            <a:solidFill>
              <a:schemeClr val="accent5"/>
            </a:solidFill>
            <a:prstDash val="solid"/>
          </a:ln>
        </p:spPr>
      </p:sp>
      <p:sp>
        <p:nvSpPr>
          <p:cNvPr id="5" name="Graph edge"/>
          <p:cNvSpPr/>
          <p:nvPr/>
        </p:nvSpPr>
        <p:spPr>
          <a:xfrm>
            <a:off x="8778240" y="5029200"/>
            <a:ext cx="1188720" cy="365760"/>
          </a:xfrm>
          <a:prstGeom prst="line">
            <a:avLst/>
          </a:prstGeom>
          <a:noFill/>
          <a:ln w="19050">
            <a:solidFill>
              <a:schemeClr val="accent5"/>
            </a:solidFill>
            <a:prstDash val="solid"/>
          </a:ln>
        </p:spPr>
      </p:sp>
      <p:sp>
        <p:nvSpPr>
          <p:cNvPr id="6" name="Graph edge"/>
          <p:cNvSpPr/>
          <p:nvPr/>
        </p:nvSpPr>
        <p:spPr>
          <a:xfrm flipV="1">
            <a:off x="8778240" y="3749040"/>
            <a:ext cx="640080" cy="1280160"/>
          </a:xfrm>
          <a:prstGeom prst="line">
            <a:avLst/>
          </a:prstGeom>
          <a:noFill/>
          <a:ln w="19050">
            <a:solidFill>
              <a:schemeClr val="accent5"/>
            </a:solidFill>
            <a:prstDash val="solid"/>
          </a:ln>
        </p:spPr>
      </p:sp>
      <p:sp>
        <p:nvSpPr>
          <p:cNvPr id="7" name="Graph edge"/>
          <p:cNvSpPr/>
          <p:nvPr/>
        </p:nvSpPr>
        <p:spPr>
          <a:xfrm>
            <a:off x="9418320" y="3749040"/>
            <a:ext cx="914400" cy="731520"/>
          </a:xfrm>
          <a:prstGeom prst="line">
            <a:avLst/>
          </a:prstGeom>
          <a:noFill/>
          <a:ln w="19050">
            <a:solidFill>
              <a:schemeClr val="accent5"/>
            </a:solidFill>
            <a:prstDash val="solid"/>
          </a:ln>
        </p:spPr>
      </p:sp>
      <p:sp>
        <p:nvSpPr>
          <p:cNvPr id="8" name="Graph edge"/>
          <p:cNvSpPr/>
          <p:nvPr/>
        </p:nvSpPr>
        <p:spPr>
          <a:xfrm flipV="1">
            <a:off x="10332720" y="3383280"/>
            <a:ext cx="548640" cy="1097280"/>
          </a:xfrm>
          <a:prstGeom prst="line">
            <a:avLst/>
          </a:prstGeom>
          <a:noFill/>
          <a:ln w="19050">
            <a:solidFill>
              <a:schemeClr val="accent5"/>
            </a:solidFill>
            <a:prstDash val="solid"/>
          </a:ln>
        </p:spPr>
      </p:sp>
      <p:sp>
        <p:nvSpPr>
          <p:cNvPr id="9" name="Graph edge"/>
          <p:cNvSpPr/>
          <p:nvPr/>
        </p:nvSpPr>
        <p:spPr>
          <a:xfrm>
            <a:off x="10332720" y="4480560"/>
            <a:ext cx="914400" cy="365760"/>
          </a:xfrm>
          <a:prstGeom prst="line">
            <a:avLst/>
          </a:prstGeom>
          <a:noFill/>
          <a:ln w="19050">
            <a:solidFill>
              <a:schemeClr val="accent5"/>
            </a:solidFill>
            <a:prstDash val="solid"/>
          </a:ln>
        </p:spPr>
      </p:sp>
      <p:sp>
        <p:nvSpPr>
          <p:cNvPr id="10" name="Graph edge"/>
          <p:cNvSpPr/>
          <p:nvPr/>
        </p:nvSpPr>
        <p:spPr>
          <a:xfrm flipV="1">
            <a:off x="9966960" y="4480560"/>
            <a:ext cx="365760" cy="914400"/>
          </a:xfrm>
          <a:prstGeom prst="line">
            <a:avLst/>
          </a:prstGeom>
          <a:noFill/>
          <a:ln w="19050">
            <a:solidFill>
              <a:schemeClr val="accent5"/>
            </a:solidFill>
            <a:prstDash val="solid"/>
          </a:ln>
        </p:spPr>
      </p:sp>
      <p:sp>
        <p:nvSpPr>
          <p:cNvPr id="11" name="Graph edge"/>
          <p:cNvSpPr/>
          <p:nvPr/>
        </p:nvSpPr>
        <p:spPr>
          <a:xfrm flipV="1">
            <a:off x="8778240" y="4480560"/>
            <a:ext cx="1554480" cy="548640"/>
          </a:xfrm>
          <a:prstGeom prst="line">
            <a:avLst/>
          </a:prstGeom>
          <a:noFill/>
          <a:ln w="19050">
            <a:solidFill>
              <a:schemeClr val="accent5"/>
            </a:solidFill>
            <a:prstDash val="solid"/>
          </a:ln>
        </p:spPr>
      </p:sp>
      <p:sp>
        <p:nvSpPr>
          <p:cNvPr id="12" name="Graph node 1"/>
          <p:cNvSpPr/>
          <p:nvPr/>
        </p:nvSpPr>
        <p:spPr>
          <a:xfrm>
            <a:off x="9226296" y="3557016"/>
            <a:ext cx="384048" cy="384048"/>
          </a:xfrm>
          <a:prstGeom prst="ellipse">
            <a:avLst/>
          </a:prstGeom>
          <a:solidFill>
            <a:schemeClr val="accent2"/>
          </a:solidFill>
          <a:ln w="19050">
            <a:solidFill>
              <a:schemeClr val="bg1"/>
            </a:solidFill>
            <a:prstDash val="solid"/>
          </a:ln>
        </p:spPr>
      </p:sp>
      <p:sp>
        <p:nvSpPr>
          <p:cNvPr id="13" name="Graph node 2"/>
          <p:cNvSpPr/>
          <p:nvPr/>
        </p:nvSpPr>
        <p:spPr>
          <a:xfrm>
            <a:off x="10689336" y="3191256"/>
            <a:ext cx="384048" cy="384048"/>
          </a:xfrm>
          <a:prstGeom prst="ellipse">
            <a:avLst/>
          </a:prstGeom>
          <a:solidFill>
            <a:schemeClr val="accent3"/>
          </a:solidFill>
          <a:ln w="19050">
            <a:solidFill>
              <a:schemeClr val="bg1"/>
            </a:solidFill>
            <a:prstDash val="solid"/>
          </a:ln>
        </p:spPr>
      </p:sp>
      <p:sp>
        <p:nvSpPr>
          <p:cNvPr id="14" name="Graph node 3"/>
          <p:cNvSpPr/>
          <p:nvPr/>
        </p:nvSpPr>
        <p:spPr>
          <a:xfrm>
            <a:off x="11055096" y="4654296"/>
            <a:ext cx="384048" cy="384048"/>
          </a:xfrm>
          <a:prstGeom prst="ellipse">
            <a:avLst/>
          </a:prstGeom>
          <a:solidFill>
            <a:schemeClr val="accent5"/>
          </a:solidFill>
          <a:ln w="19050">
            <a:solidFill>
              <a:schemeClr val="bg1"/>
            </a:solidFill>
            <a:prstDash val="solid"/>
          </a:ln>
        </p:spPr>
      </p:sp>
      <p:sp>
        <p:nvSpPr>
          <p:cNvPr id="15" name="Graph node 4"/>
          <p:cNvSpPr/>
          <p:nvPr/>
        </p:nvSpPr>
        <p:spPr>
          <a:xfrm>
            <a:off x="9774936" y="5202936"/>
            <a:ext cx="384048" cy="384048"/>
          </a:xfrm>
          <a:prstGeom prst="ellipse">
            <a:avLst/>
          </a:prstGeom>
          <a:solidFill>
            <a:schemeClr val="accent3"/>
          </a:solidFill>
          <a:ln w="19050">
            <a:solidFill>
              <a:schemeClr val="bg1"/>
            </a:solidFill>
            <a:prstDash val="solid"/>
          </a:ln>
        </p:spPr>
      </p:sp>
      <p:sp>
        <p:nvSpPr>
          <p:cNvPr id="16" name="Graph node 5"/>
          <p:cNvSpPr/>
          <p:nvPr/>
        </p:nvSpPr>
        <p:spPr>
          <a:xfrm>
            <a:off x="8586216" y="4837176"/>
            <a:ext cx="384048" cy="384048"/>
          </a:xfrm>
          <a:prstGeom prst="ellipse">
            <a:avLst/>
          </a:prstGeom>
          <a:solidFill>
            <a:schemeClr val="accent2"/>
          </a:solidFill>
          <a:ln w="19050">
            <a:solidFill>
              <a:schemeClr val="bg1"/>
            </a:solidFill>
            <a:prstDash val="solid"/>
          </a:ln>
        </p:spPr>
      </p:sp>
      <p:sp>
        <p:nvSpPr>
          <p:cNvPr id="17" name="Graph node 6"/>
          <p:cNvSpPr/>
          <p:nvPr/>
        </p:nvSpPr>
        <p:spPr>
          <a:xfrm>
            <a:off x="10058400" y="4206240"/>
            <a:ext cx="548640" cy="548640"/>
          </a:xfrm>
          <a:prstGeom prst="ellipse">
            <a:avLst/>
          </a:prstGeom>
          <a:solidFill>
            <a:schemeClr val="accent1"/>
          </a:solidFill>
          <a:ln w="19050">
            <a:solidFill>
              <a:schemeClr val="bg1"/>
            </a:solidFill>
            <a:prstDash val="solid"/>
          </a:ln>
        </p:spPr>
      </p:sp>
      <p:sp>
        <p:nvSpPr>
          <p:cNvPr id="18" name="Eyebrow"/>
          <p:cNvSpPr txBox="1"/>
          <p:nvPr/>
        </p:nvSpPr>
        <p:spPr>
          <a:xfrm>
            <a:off x="731520" y="548640"/>
            <a:ext cx="8229600" cy="365760"/>
          </a:xfrm>
          <a:prstGeom prst="rect">
            <a:avLst/>
          </a:prstGeom>
          <a:noFill/>
          <a:ln/>
        </p:spPr>
        <p:txBody>
          <a:bodyPr wrap="square" lIns="0" tIns="0" rIns="0" bIns="0" rtlCol="0" anchor="ctr"/>
          <a:lstStyle/>
          <a:p>
            <a:pPr indent="0" marL="0">
              <a:buNone/>
            </a:pPr>
            <a:r>
              <a:rPr lang="en-US" sz="1400" b="1" spc="400" kern="0" dirty="0">
                <a:solidFill>
                  <a:schemeClr val="accent3"/>
                </a:solidFill>
              </a:rPr>
              <a:t>RESEARCH PAPER PRESENTATION</a:t>
            </a:r>
            <a:endParaRPr lang="en-US" sz="1400" dirty="0"/>
          </a:p>
        </p:txBody>
      </p:sp>
      <p:sp>
        <p:nvSpPr>
          <p:cNvPr id="19" name="Title"/>
          <p:cNvSpPr txBox="1"/>
          <p:nvPr/>
        </p:nvSpPr>
        <p:spPr>
          <a:xfrm>
            <a:off x="731520" y="1051560"/>
            <a:ext cx="10515600" cy="169164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Auditing the Evidence Behind Research-Gap Discovery: Corpus Quality, Retrieval, and Structured Extraction in Graph Neural Network Literature</a:t>
            </a:r>
            <a:endParaRPr lang="en-US" sz="3400" dirty="0"/>
          </a:p>
        </p:txBody>
      </p:sp>
      <p:sp>
        <p:nvSpPr>
          <p:cNvPr id="20" name="Plain-language subtitle"/>
          <p:cNvSpPr txBox="1"/>
          <p:nvPr/>
        </p:nvSpPr>
        <p:spPr>
          <a:xfrm>
            <a:off x="731520" y="2788920"/>
            <a:ext cx="8229600" cy="365760"/>
          </a:xfrm>
          <a:prstGeom prst="rect">
            <a:avLst/>
          </a:prstGeom>
          <a:noFill/>
          <a:ln/>
        </p:spPr>
        <p:txBody>
          <a:bodyPr wrap="square" lIns="0" tIns="0" rIns="0" bIns="0" rtlCol="0" anchor="ctr"/>
          <a:lstStyle/>
          <a:p>
            <a:pPr indent="0" marL="0">
              <a:buNone/>
            </a:pPr>
            <a:r>
              <a:rPr lang="en-US" sz="1600" i="1" dirty="0">
                <a:solidFill>
                  <a:schemeClr val="accent5"/>
                </a:solidFill>
              </a:rPr>
              <a:t>In simple words: can we trust AI tools that suggest new research topics?</a:t>
            </a:r>
            <a:endParaRPr lang="en-US" sz="1600" dirty="0"/>
          </a:p>
        </p:txBody>
      </p:sp>
      <p:sp>
        <p:nvSpPr>
          <p:cNvPr id="21" name="Authors label"/>
          <p:cNvSpPr txBox="1"/>
          <p:nvPr/>
        </p:nvSpPr>
        <p:spPr>
          <a:xfrm>
            <a:off x="731520" y="3429000"/>
            <a:ext cx="3657600" cy="274320"/>
          </a:xfrm>
          <a:prstGeom prst="rect">
            <a:avLst/>
          </a:prstGeom>
          <a:noFill/>
          <a:ln/>
        </p:spPr>
        <p:txBody>
          <a:bodyPr wrap="square" lIns="0" tIns="0" rIns="0" bIns="0" rtlCol="0" anchor="ctr"/>
          <a:lstStyle/>
          <a:p>
            <a:pPr indent="0" marL="0">
              <a:buNone/>
            </a:pPr>
            <a:r>
              <a:rPr lang="en-US" sz="1200" b="1" spc="300" kern="0" dirty="0">
                <a:solidFill>
                  <a:schemeClr val="accent5"/>
                </a:solidFill>
              </a:rPr>
              <a:t>PRESENTED BY</a:t>
            </a:r>
            <a:endParaRPr lang="en-US" sz="1200" dirty="0"/>
          </a:p>
        </p:txBody>
      </p:sp>
      <p:sp>
        <p:nvSpPr>
          <p:cNvPr id="22" name="Author 1"/>
          <p:cNvSpPr txBox="1"/>
          <p:nvPr/>
        </p:nvSpPr>
        <p:spPr>
          <a:xfrm>
            <a:off x="731520" y="3749040"/>
            <a:ext cx="3840480" cy="868680"/>
          </a:xfrm>
          <a:prstGeom prst="rect">
            <a:avLst/>
          </a:prstGeom>
          <a:noFill/>
          <a:ln/>
        </p:spPr>
        <p:txBody>
          <a:bodyPr wrap="square" lIns="0" tIns="0" rIns="0" bIns="0" rtlCol="0" anchor="t"/>
          <a:lstStyle/>
          <a:p>
            <a:pPr indent="0" marL="0">
              <a:buNone/>
            </a:pPr>
            <a:r>
              <a:rPr lang="en-US" sz="2200" b="1" dirty="0">
                <a:solidFill>
                  <a:schemeClr val="bg1"/>
                </a:solidFill>
              </a:rPr>
              <a:t>Pratheeksha</a:t>
            </a:r>
            <a:endParaRPr lang="en-US" sz="2200" dirty="0"/>
          </a:p>
          <a:p>
            <a:pPr indent="0" marL="0">
              <a:buNone/>
            </a:pPr>
            <a:r>
              <a:rPr lang="en-US" sz="1600" dirty="0">
                <a:solidFill>
                  <a:schemeClr val="bg1"/>
                </a:solidFill>
              </a:rPr>
              <a:t>Reg. No. 25250177</a:t>
            </a:r>
            <a:endParaRPr lang="en-US" sz="2200" dirty="0"/>
          </a:p>
        </p:txBody>
      </p:sp>
      <p:sp>
        <p:nvSpPr>
          <p:cNvPr id="23" name="Author 2"/>
          <p:cNvSpPr txBox="1"/>
          <p:nvPr/>
        </p:nvSpPr>
        <p:spPr>
          <a:xfrm>
            <a:off x="4754880" y="3749040"/>
            <a:ext cx="3840480" cy="868680"/>
          </a:xfrm>
          <a:prstGeom prst="rect">
            <a:avLst/>
          </a:prstGeom>
          <a:noFill/>
          <a:ln/>
        </p:spPr>
        <p:txBody>
          <a:bodyPr wrap="square" lIns="0" tIns="0" rIns="0" bIns="0" rtlCol="0" anchor="t"/>
          <a:lstStyle/>
          <a:p>
            <a:pPr indent="0" marL="0">
              <a:buNone/>
            </a:pPr>
            <a:r>
              <a:rPr lang="en-US" sz="2200" b="1" dirty="0">
                <a:solidFill>
                  <a:schemeClr val="bg1"/>
                </a:solidFill>
              </a:rPr>
              <a:t>Merel Riha D souza</a:t>
            </a:r>
            <a:endParaRPr lang="en-US" sz="2200" dirty="0"/>
          </a:p>
          <a:p>
            <a:pPr indent="0" marL="0">
              <a:buNone/>
            </a:pPr>
            <a:r>
              <a:rPr lang="en-US" sz="1600" dirty="0">
                <a:solidFill>
                  <a:schemeClr val="bg1"/>
                </a:solidFill>
              </a:rPr>
              <a:t>Reg. No. 25250162</a:t>
            </a:r>
            <a:endParaRPr lang="en-US" sz="2200" dirty="0"/>
          </a:p>
        </p:txBody>
      </p:sp>
      <p:sp>
        <p:nvSpPr>
          <p:cNvPr id="24" name="Guides label"/>
          <p:cNvSpPr txBox="1"/>
          <p:nvPr/>
        </p:nvSpPr>
        <p:spPr>
          <a:xfrm>
            <a:off x="731520" y="4846320"/>
            <a:ext cx="4572000" cy="274320"/>
          </a:xfrm>
          <a:prstGeom prst="rect">
            <a:avLst/>
          </a:prstGeom>
          <a:noFill/>
          <a:ln/>
        </p:spPr>
        <p:txBody>
          <a:bodyPr wrap="square" lIns="0" tIns="0" rIns="0" bIns="0" rtlCol="0" anchor="ctr"/>
          <a:lstStyle/>
          <a:p>
            <a:pPr indent="0" marL="0">
              <a:buNone/>
            </a:pPr>
            <a:r>
              <a:rPr lang="en-US" sz="1200" b="1" spc="300" kern="0" dirty="0">
                <a:solidFill>
                  <a:schemeClr val="accent5"/>
                </a:solidFill>
              </a:rPr>
              <a:t>UNDER THE GUIDANCE OF</a:t>
            </a:r>
            <a:endParaRPr lang="en-US" sz="1200" dirty="0"/>
          </a:p>
        </p:txBody>
      </p:sp>
      <p:sp>
        <p:nvSpPr>
          <p:cNvPr id="25" name="Guide 1"/>
          <p:cNvSpPr txBox="1"/>
          <p:nvPr/>
        </p:nvSpPr>
        <p:spPr>
          <a:xfrm>
            <a:off x="731520" y="5166360"/>
            <a:ext cx="3840480" cy="777240"/>
          </a:xfrm>
          <a:prstGeom prst="rect">
            <a:avLst/>
          </a:prstGeom>
          <a:noFill/>
          <a:ln/>
        </p:spPr>
        <p:txBody>
          <a:bodyPr wrap="square" lIns="0" tIns="0" rIns="0" bIns="0" rtlCol="0" anchor="t"/>
          <a:lstStyle/>
          <a:p>
            <a:pPr indent="0" marL="0">
              <a:buNone/>
            </a:pPr>
            <a:r>
              <a:rPr lang="en-US" sz="1800" b="1" dirty="0">
                <a:solidFill>
                  <a:schemeClr val="bg1"/>
                </a:solidFill>
              </a:rPr>
              <a:t>Dr Jeevan L J Pinto</a:t>
            </a:r>
            <a:endParaRPr lang="en-US" sz="1800" dirty="0"/>
          </a:p>
          <a:p>
            <a:pPr indent="0" marL="0">
              <a:buNone/>
            </a:pPr>
            <a:r>
              <a:rPr lang="en-US" sz="1500" dirty="0">
                <a:solidFill>
                  <a:schemeClr val="bg1"/>
                </a:solidFill>
              </a:rPr>
              <a:t>HOD, Department of MCA</a:t>
            </a:r>
            <a:endParaRPr lang="en-US" sz="1800" dirty="0"/>
          </a:p>
        </p:txBody>
      </p:sp>
      <p:sp>
        <p:nvSpPr>
          <p:cNvPr id="26" name="Guide 2"/>
          <p:cNvSpPr txBox="1"/>
          <p:nvPr/>
        </p:nvSpPr>
        <p:spPr>
          <a:xfrm>
            <a:off x="4754880" y="5166360"/>
            <a:ext cx="3840480" cy="777240"/>
          </a:xfrm>
          <a:prstGeom prst="rect">
            <a:avLst/>
          </a:prstGeom>
          <a:noFill/>
          <a:ln/>
        </p:spPr>
        <p:txBody>
          <a:bodyPr wrap="square" lIns="0" tIns="0" rIns="0" bIns="0" rtlCol="0" anchor="t"/>
          <a:lstStyle/>
          <a:p>
            <a:pPr indent="0" marL="0">
              <a:buNone/>
            </a:pPr>
            <a:r>
              <a:rPr lang="en-US" sz="1800" b="1" dirty="0">
                <a:solidFill>
                  <a:schemeClr val="bg1"/>
                </a:solidFill>
              </a:rPr>
              <a:t>Dr Rakesh Kumar</a:t>
            </a:r>
            <a:endParaRPr lang="en-US" sz="1800" dirty="0"/>
          </a:p>
          <a:p>
            <a:pPr indent="0" marL="0">
              <a:buNone/>
            </a:pPr>
            <a:r>
              <a:rPr lang="en-US" sz="1500" dirty="0">
                <a:solidFill>
                  <a:schemeClr val="bg1"/>
                </a:solidFill>
              </a:rPr>
              <a:t>HOD, Department of MSc</a:t>
            </a:r>
            <a:endParaRPr lang="en-US" sz="1800" dirty="0"/>
          </a:p>
        </p:txBody>
      </p:sp>
      <p:sp>
        <p:nvSpPr>
          <p:cNvPr id="27" name="Institution"/>
          <p:cNvSpPr txBox="1"/>
          <p:nvPr/>
        </p:nvSpPr>
        <p:spPr>
          <a:xfrm>
            <a:off x="731520" y="6309360"/>
            <a:ext cx="9144000" cy="274320"/>
          </a:xfrm>
          <a:prstGeom prst="rect">
            <a:avLst/>
          </a:prstGeom>
          <a:noFill/>
          <a:ln/>
        </p:spPr>
        <p:txBody>
          <a:bodyPr wrap="square" lIns="0" tIns="0" rIns="0" bIns="0" rtlCol="0" anchor="ctr"/>
          <a:lstStyle/>
          <a:p>
            <a:pPr indent="0" marL="0">
              <a:buNone/>
            </a:pPr>
            <a:r>
              <a:rPr lang="en-US" sz="1200" dirty="0">
                <a:solidFill>
                  <a:schemeClr val="accent5"/>
                </a:solidFill>
              </a:rPr>
              <a:t>St Aloysius Institute of Management and Information Technology  ·  Mangalore, Karnataka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Abstract</a:t>
            </a:r>
            <a:endParaRPr lang="en-US" sz="3400" dirty="0"/>
          </a:p>
        </p:txBody>
      </p:sp>
      <p:sp>
        <p:nvSpPr>
          <p:cNvPr id="3" name="Abstract text"/>
          <p:cNvSpPr txBox="1"/>
          <p:nvPr/>
        </p:nvSpPr>
        <p:spPr>
          <a:xfrm>
            <a:off x="548640" y="1325880"/>
            <a:ext cx="6675120" cy="4297680"/>
          </a:xfrm>
          <a:prstGeom prst="rect">
            <a:avLst/>
          </a:prstGeom>
          <a:noFill/>
          <a:ln/>
        </p:spPr>
        <p:txBody>
          <a:bodyPr wrap="square" lIns="0" tIns="0" rIns="0" bIns="0" rtlCol="0" anchor="t"/>
          <a:lstStyle/>
          <a:p>
            <a:pPr indent="0" marL="0">
              <a:buNone/>
            </a:pPr>
            <a:r>
              <a:rPr lang="en-US" sz="1500" b="1" dirty="0">
                <a:solidFill>
                  <a:srgbClr val="0B7A75"/>
                </a:solidFill>
              </a:rPr>
              <a:t>The idea. </a:t>
            </a:r>
            <a:pPr indent="0" marL="0">
              <a:spcAft>
                <a:spcPts val="800"/>
              </a:spcAft>
              <a:buNone/>
            </a:pPr>
            <a:r>
              <a:rPr lang="en-US" sz="1500" dirty="0">
                <a:solidFill>
                  <a:schemeClr val="tx1"/>
                </a:solidFill>
              </a:rPr>
              <a:t>Some AI tools claim to find “research gaps”: topics nobody has studied yet. People usually judge them by how convincing the answer sounds. But a trustworthy answer needs three things: a collection of papers that is really about the topic, a way to find earlier work, and claims that can be traced back to the original text.</a:t>
            </a:r>
            <a:endParaRPr lang="en-US" sz="1500" dirty="0"/>
          </a:p>
          <a:p>
            <a:pPr indent="0" marL="0">
              <a:buNone/>
            </a:pPr>
            <a:r>
              <a:rPr lang="en-US" sz="1500" b="1" dirty="0">
                <a:solidFill>
                  <a:srgbClr val="0B7A75"/>
                </a:solidFill>
              </a:rPr>
              <a:t>What we did. </a:t>
            </a:r>
            <a:pPr indent="0" marL="0">
              <a:spcAft>
                <a:spcPts val="800"/>
              </a:spcAft>
              <a:buNone/>
            </a:pPr>
            <a:r>
              <a:rPr lang="en-US" sz="1500" dirty="0">
                <a:solidFill>
                  <a:schemeClr val="tx1"/>
                </a:solidFill>
              </a:rPr>
              <a:t>We tested these three things for graph neural network (GNN) research, using the OpenAlex paper database, three search methods and an AI model that reads paper abstracts.</a:t>
            </a:r>
            <a:endParaRPr lang="en-US" sz="1500" dirty="0"/>
          </a:p>
          <a:p>
            <a:pPr indent="0" marL="0">
              <a:buNone/>
            </a:pPr>
            <a:r>
              <a:rPr lang="en-US" sz="1500" b="1" dirty="0">
                <a:solidFill>
                  <a:srgbClr val="0B7A75"/>
                </a:solidFill>
              </a:rPr>
              <a:t>What we found. </a:t>
            </a:r>
            <a:pPr indent="0" marL="0">
              <a:buNone/>
            </a:pPr>
            <a:r>
              <a:rPr lang="en-US" sz="1500" dirty="0">
                <a:solidFill>
                  <a:schemeClr val="tx1"/>
                </a:solidFill>
              </a:rPr>
              <a:t>95 of the 1,951 papers were there only because “GNN” also has other meanings; at least 68 were not about graphs. Meaning-based search scored highest, but not by a margin we can trust. Every quote we kept was really in the abstract, yet for the “method” field the AI matched human labels 0% by exact words and 75% when meaning counted. Our test found no research gaps.</a:t>
            </a:r>
            <a:endParaRPr lang="en-US" sz="1500" dirty="0"/>
          </a:p>
        </p:txBody>
      </p:sp>
      <p:sp>
        <p:nvSpPr>
          <p:cNvPr id="4" name="Keywords"/>
          <p:cNvSpPr txBox="1"/>
          <p:nvPr/>
        </p:nvSpPr>
        <p:spPr>
          <a:xfrm>
            <a:off x="548640" y="5669280"/>
            <a:ext cx="6675120" cy="594360"/>
          </a:xfrm>
          <a:prstGeom prst="rect">
            <a:avLst/>
          </a:prstGeom>
          <a:noFill/>
          <a:ln/>
        </p:spPr>
        <p:txBody>
          <a:bodyPr wrap="square" lIns="0" tIns="0" rIns="0" bIns="0" rtlCol="0" anchor="t"/>
          <a:lstStyle/>
          <a:p>
            <a:pPr indent="0" marL="0">
              <a:buNone/>
            </a:pPr>
            <a:r>
              <a:rPr lang="en-US" sz="1200" b="1" i="1" dirty="0">
                <a:solidFill>
                  <a:schemeClr val="accent4"/>
                </a:solidFill>
              </a:rPr>
              <a:t>Keywords: </a:t>
            </a:r>
            <a:pPr indent="0" marL="0">
              <a:buNone/>
            </a:pPr>
            <a:r>
              <a:rPr lang="en-US" sz="1200" i="1" dirty="0">
                <a:solidFill>
                  <a:schemeClr val="accent4"/>
                </a:solidFill>
              </a:rPr>
              <a:t>research gap discovery · graph neural networks · information retrieval (search) · large language models (AI) · evidence grounding · corpus (paper collection) quality</a:t>
            </a:r>
            <a:endParaRPr lang="en-US" sz="1200" dirty="0"/>
          </a:p>
        </p:txBody>
      </p:sp>
      <p:sp>
        <p:nvSpPr>
          <p:cNvPr id="5" name="Stat card 1"/>
          <p:cNvSpPr/>
          <p:nvPr/>
        </p:nvSpPr>
        <p:spPr>
          <a:xfrm>
            <a:off x="7589520" y="1371600"/>
            <a:ext cx="1920240" cy="2148840"/>
          </a:xfrm>
          <a:prstGeom prst="roundRect">
            <a:avLst>
              <a:gd name="adj" fmla="val 5714"/>
            </a:avLst>
          </a:prstGeom>
          <a:solidFill>
            <a:schemeClr val="bg2"/>
          </a:solidFill>
          <a:ln/>
        </p:spPr>
      </p:sp>
      <p:sp>
        <p:nvSpPr>
          <p:cNvPr id="6" name="Stat value 1"/>
          <p:cNvSpPr txBox="1"/>
          <p:nvPr/>
        </p:nvSpPr>
        <p:spPr>
          <a:xfrm>
            <a:off x="7726680" y="1600200"/>
            <a:ext cx="1645920" cy="6400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1,951</a:t>
            </a:r>
            <a:endParaRPr lang="en-US" sz="3000" dirty="0"/>
          </a:p>
        </p:txBody>
      </p:sp>
      <p:sp>
        <p:nvSpPr>
          <p:cNvPr id="7" name="Stat label 1"/>
          <p:cNvSpPr txBox="1"/>
          <p:nvPr/>
        </p:nvSpPr>
        <p:spPr>
          <a:xfrm>
            <a:off x="7726680" y="2240280"/>
            <a:ext cx="1691640" cy="1234440"/>
          </a:xfrm>
          <a:prstGeom prst="rect">
            <a:avLst/>
          </a:prstGeom>
          <a:noFill/>
          <a:ln/>
        </p:spPr>
        <p:txBody>
          <a:bodyPr wrap="square" lIns="0" tIns="0" rIns="0" bIns="0" rtlCol="0" anchor="t"/>
          <a:lstStyle/>
          <a:p>
            <a:pPr indent="0" marL="0">
              <a:buNone/>
            </a:pPr>
            <a:r>
              <a:rPr lang="en-US" sz="1300" dirty="0">
                <a:solidFill>
                  <a:schemeClr val="tx1"/>
                </a:solidFill>
              </a:rPr>
              <a:t>papers collected and checked</a:t>
            </a:r>
            <a:endParaRPr lang="en-US" sz="1300" dirty="0"/>
          </a:p>
        </p:txBody>
      </p:sp>
      <p:sp>
        <p:nvSpPr>
          <p:cNvPr id="8" name="Stat card 2"/>
          <p:cNvSpPr/>
          <p:nvPr/>
        </p:nvSpPr>
        <p:spPr>
          <a:xfrm>
            <a:off x="9692640" y="1371600"/>
            <a:ext cx="1920240" cy="2148840"/>
          </a:xfrm>
          <a:prstGeom prst="roundRect">
            <a:avLst>
              <a:gd name="adj" fmla="val 5714"/>
            </a:avLst>
          </a:prstGeom>
          <a:solidFill>
            <a:schemeClr val="bg2"/>
          </a:solidFill>
          <a:ln/>
        </p:spPr>
      </p:sp>
      <p:sp>
        <p:nvSpPr>
          <p:cNvPr id="9" name="Stat value 2"/>
          <p:cNvSpPr txBox="1"/>
          <p:nvPr/>
        </p:nvSpPr>
        <p:spPr>
          <a:xfrm>
            <a:off x="9829800" y="1600200"/>
            <a:ext cx="1645920" cy="6400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4.9%</a:t>
            </a:r>
            <a:endParaRPr lang="en-US" sz="3000" dirty="0"/>
          </a:p>
        </p:txBody>
      </p:sp>
      <p:sp>
        <p:nvSpPr>
          <p:cNvPr id="10" name="Stat label 2"/>
          <p:cNvSpPr txBox="1"/>
          <p:nvPr/>
        </p:nvSpPr>
        <p:spPr>
          <a:xfrm>
            <a:off x="9829800" y="2240280"/>
            <a:ext cx="1691640" cy="1234440"/>
          </a:xfrm>
          <a:prstGeom prst="rect">
            <a:avLst/>
          </a:prstGeom>
          <a:noFill/>
          <a:ln/>
        </p:spPr>
        <p:txBody>
          <a:bodyPr wrap="square" lIns="0" tIns="0" rIns="0" bIns="0" rtlCol="0" anchor="t"/>
          <a:lstStyle/>
          <a:p>
            <a:pPr indent="0" marL="0">
              <a:buNone/>
            </a:pPr>
            <a:r>
              <a:rPr lang="en-US" sz="1300" dirty="0">
                <a:solidFill>
                  <a:schemeClr val="tx1"/>
                </a:solidFill>
              </a:rPr>
              <a:t>of papers (95) matched only the short word “GNN”</a:t>
            </a:r>
            <a:endParaRPr lang="en-US" sz="1300" dirty="0"/>
          </a:p>
        </p:txBody>
      </p:sp>
      <p:sp>
        <p:nvSpPr>
          <p:cNvPr id="11" name="Stat card 3"/>
          <p:cNvSpPr/>
          <p:nvPr/>
        </p:nvSpPr>
        <p:spPr>
          <a:xfrm>
            <a:off x="7589520" y="3703320"/>
            <a:ext cx="1920240" cy="2148840"/>
          </a:xfrm>
          <a:prstGeom prst="roundRect">
            <a:avLst>
              <a:gd name="adj" fmla="val 5714"/>
            </a:avLst>
          </a:prstGeom>
          <a:solidFill>
            <a:schemeClr val="bg2"/>
          </a:solidFill>
          <a:ln/>
        </p:spPr>
      </p:sp>
      <p:sp>
        <p:nvSpPr>
          <p:cNvPr id="12" name="Stat value 3"/>
          <p:cNvSpPr txBox="1"/>
          <p:nvPr/>
        </p:nvSpPr>
        <p:spPr>
          <a:xfrm>
            <a:off x="7726680" y="3931920"/>
            <a:ext cx="1645920" cy="6400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0.568</a:t>
            </a:r>
            <a:endParaRPr lang="en-US" sz="3000" dirty="0"/>
          </a:p>
        </p:txBody>
      </p:sp>
      <p:sp>
        <p:nvSpPr>
          <p:cNvPr id="13" name="Stat label 3"/>
          <p:cNvSpPr txBox="1"/>
          <p:nvPr/>
        </p:nvSpPr>
        <p:spPr>
          <a:xfrm>
            <a:off x="7726680" y="4572000"/>
            <a:ext cx="1691640" cy="1234440"/>
          </a:xfrm>
          <a:prstGeom prst="rect">
            <a:avLst/>
          </a:prstGeom>
          <a:noFill/>
          <a:ln/>
        </p:spPr>
        <p:txBody>
          <a:bodyPr wrap="square" lIns="0" tIns="0" rIns="0" bIns="0" rtlCol="0" anchor="t"/>
          <a:lstStyle/>
          <a:p>
            <a:pPr indent="0" marL="0">
              <a:buNone/>
            </a:pPr>
            <a:r>
              <a:rPr lang="en-US" sz="1300" dirty="0">
                <a:solidFill>
                  <a:schemeClr val="tx1"/>
                </a:solidFill>
              </a:rPr>
              <a:t>best search score, out of 1 (meaning-based search)</a:t>
            </a:r>
            <a:endParaRPr lang="en-US" sz="1300" dirty="0"/>
          </a:p>
        </p:txBody>
      </p:sp>
      <p:sp>
        <p:nvSpPr>
          <p:cNvPr id="14" name="Stat card 4"/>
          <p:cNvSpPr/>
          <p:nvPr/>
        </p:nvSpPr>
        <p:spPr>
          <a:xfrm>
            <a:off x="9692640" y="3703320"/>
            <a:ext cx="1920240" cy="2148840"/>
          </a:xfrm>
          <a:prstGeom prst="roundRect">
            <a:avLst>
              <a:gd name="adj" fmla="val 5714"/>
            </a:avLst>
          </a:prstGeom>
          <a:solidFill>
            <a:schemeClr val="bg2"/>
          </a:solidFill>
          <a:ln/>
        </p:spPr>
      </p:sp>
      <p:sp>
        <p:nvSpPr>
          <p:cNvPr id="15" name="Stat value 4"/>
          <p:cNvSpPr txBox="1"/>
          <p:nvPr/>
        </p:nvSpPr>
        <p:spPr>
          <a:xfrm>
            <a:off x="9829800" y="3931920"/>
            <a:ext cx="1645920" cy="6400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0.748</a:t>
            </a:r>
            <a:endParaRPr lang="en-US" sz="3000" dirty="0"/>
          </a:p>
        </p:txBody>
      </p:sp>
      <p:sp>
        <p:nvSpPr>
          <p:cNvPr id="16" name="Stat label 4"/>
          <p:cNvSpPr txBox="1"/>
          <p:nvPr/>
        </p:nvSpPr>
        <p:spPr>
          <a:xfrm>
            <a:off x="9829800" y="4572000"/>
            <a:ext cx="1691640" cy="1234440"/>
          </a:xfrm>
          <a:prstGeom prst="rect">
            <a:avLst/>
          </a:prstGeom>
          <a:noFill/>
          <a:ln/>
        </p:spPr>
        <p:txBody>
          <a:bodyPr wrap="square" lIns="0" tIns="0" rIns="0" bIns="0" rtlCol="0" anchor="t"/>
          <a:lstStyle/>
          <a:p>
            <a:pPr indent="0" marL="0">
              <a:buNone/>
            </a:pPr>
            <a:r>
              <a:rPr lang="en-US" sz="1300" dirty="0">
                <a:solidFill>
                  <a:schemeClr val="tx1"/>
                </a:solidFill>
              </a:rPr>
              <a:t>AI-human match on “method” when meaning counts (0.000 by exact words)</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Problem Statement</a:t>
            </a:r>
            <a:endParaRPr lang="en-US" sz="3400" dirty="0"/>
          </a:p>
        </p:txBody>
      </p:sp>
      <p:sp>
        <p:nvSpPr>
          <p:cNvPr id="3" name="Problem statement"/>
          <p:cNvSpPr txBox="1"/>
          <p:nvPr/>
        </p:nvSpPr>
        <p:spPr>
          <a:xfrm>
            <a:off x="548640" y="1325880"/>
            <a:ext cx="11064240" cy="1097280"/>
          </a:xfrm>
          <a:prstGeom prst="rect">
            <a:avLst/>
          </a:prstGeom>
          <a:noFill/>
          <a:ln/>
        </p:spPr>
        <p:txBody>
          <a:bodyPr wrap="square" lIns="0" tIns="0" rIns="0" bIns="0" rtlCol="0" anchor="ctr"/>
          <a:lstStyle/>
          <a:p>
            <a:pPr indent="0" marL="0">
              <a:buNone/>
            </a:pPr>
            <a:r>
              <a:rPr lang="en-US" sz="2400" i="1" dirty="0">
                <a:solidFill>
                  <a:schemeClr val="tx2"/>
                </a:solidFill>
                <a:latin typeface="Cambria" pitchFamily="34" charset="0"/>
                <a:ea typeface="Cambria" pitchFamily="34" charset="-122"/>
                <a:cs typeface="Cambria" pitchFamily="34" charset="-120"/>
              </a:rPr>
              <a:t>A research gap that looks convincing may not be real. It can come from the wrong papers, from earlier work that was never found, or from claims with no proof behind them.</a:t>
            </a:r>
            <a:endParaRPr lang="en-US" sz="2400" dirty="0"/>
          </a:p>
        </p:txBody>
      </p:sp>
      <p:sp>
        <p:nvSpPr>
          <p:cNvPr id="4" name="Problem card 1"/>
          <p:cNvSpPr/>
          <p:nvPr/>
        </p:nvSpPr>
        <p:spPr>
          <a:xfrm>
            <a:off x="548640" y="2697480"/>
            <a:ext cx="3566160" cy="2514600"/>
          </a:xfrm>
          <a:prstGeom prst="roundRect">
            <a:avLst>
              <a:gd name="adj" fmla="val 4364"/>
            </a:avLst>
          </a:prstGeom>
          <a:solidFill>
            <a:schemeClr val="bg2"/>
          </a:solidFill>
          <a:ln/>
        </p:spPr>
      </p:sp>
      <p:sp>
        <p:nvSpPr>
          <p:cNvPr id="5" name="Problem badge 1"/>
          <p:cNvSpPr txBox="1"/>
          <p:nvPr/>
        </p:nvSpPr>
        <p:spPr>
          <a:xfrm>
            <a:off x="777240" y="2926080"/>
            <a:ext cx="457200" cy="457200"/>
          </a:xfrm>
          <a:prstGeom prst="ellipse">
            <a:avLst/>
          </a:prstGeom>
          <a:solidFill>
            <a:srgbClr val="E4572E"/>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Problem heading 1"/>
          <p:cNvSpPr txBox="1"/>
          <p:nvPr/>
        </p:nvSpPr>
        <p:spPr>
          <a:xfrm>
            <a:off x="1371600" y="292608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Wrong papers in the collection</a:t>
            </a:r>
            <a:endParaRPr lang="en-US" sz="1800" dirty="0"/>
          </a:p>
        </p:txBody>
      </p:sp>
      <p:sp>
        <p:nvSpPr>
          <p:cNvPr id="7" name="Problem text 1"/>
          <p:cNvSpPr txBox="1"/>
          <p:nvPr/>
        </p:nvSpPr>
        <p:spPr>
          <a:xfrm>
            <a:off x="777240" y="3566160"/>
            <a:ext cx="3108960" cy="1554480"/>
          </a:xfrm>
          <a:prstGeom prst="rect">
            <a:avLst/>
          </a:prstGeom>
          <a:noFill/>
          <a:ln/>
        </p:spPr>
        <p:txBody>
          <a:bodyPr wrap="square" lIns="0" tIns="0" rIns="0" bIns="0" rtlCol="0" anchor="t"/>
          <a:lstStyle/>
          <a:p>
            <a:pPr indent="0" marL="0">
              <a:buNone/>
            </a:pPr>
            <a:r>
              <a:rPr lang="en-US" sz="1400" dirty="0">
                <a:solidFill>
                  <a:schemeClr val="tx1"/>
                </a:solidFill>
              </a:rPr>
              <a:t>Papers that are not about the topic get in. For example, “GNN” and “message passing” are also used in other fields.</a:t>
            </a:r>
            <a:endParaRPr lang="en-US" sz="1400" dirty="0"/>
          </a:p>
        </p:txBody>
      </p:sp>
      <p:sp>
        <p:nvSpPr>
          <p:cNvPr id="8" name="Problem card 2"/>
          <p:cNvSpPr/>
          <p:nvPr/>
        </p:nvSpPr>
        <p:spPr>
          <a:xfrm>
            <a:off x="4297680" y="2697480"/>
            <a:ext cx="3566160" cy="2514600"/>
          </a:xfrm>
          <a:prstGeom prst="roundRect">
            <a:avLst>
              <a:gd name="adj" fmla="val 4364"/>
            </a:avLst>
          </a:prstGeom>
          <a:solidFill>
            <a:schemeClr val="bg2"/>
          </a:solidFill>
          <a:ln/>
        </p:spPr>
      </p:sp>
      <p:sp>
        <p:nvSpPr>
          <p:cNvPr id="9" name="Problem badge 2"/>
          <p:cNvSpPr txBox="1"/>
          <p:nvPr/>
        </p:nvSpPr>
        <p:spPr>
          <a:xfrm>
            <a:off x="4526280" y="2926080"/>
            <a:ext cx="457200" cy="457200"/>
          </a:xfrm>
          <a:prstGeom prst="ellipse">
            <a:avLst/>
          </a:prstGeom>
          <a:solidFill>
            <a:srgbClr val="0B7A75"/>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Problem heading 2"/>
          <p:cNvSpPr txBox="1"/>
          <p:nvPr/>
        </p:nvSpPr>
        <p:spPr>
          <a:xfrm>
            <a:off x="5120640" y="292608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Earlier work is missed</a:t>
            </a:r>
            <a:endParaRPr lang="en-US" sz="1800" dirty="0"/>
          </a:p>
        </p:txBody>
      </p:sp>
      <p:sp>
        <p:nvSpPr>
          <p:cNvPr id="11" name="Problem text 2"/>
          <p:cNvSpPr txBox="1"/>
          <p:nvPr/>
        </p:nvSpPr>
        <p:spPr>
          <a:xfrm>
            <a:off x="4526280" y="3566160"/>
            <a:ext cx="3108960" cy="1554480"/>
          </a:xfrm>
          <a:prstGeom prst="rect">
            <a:avLst/>
          </a:prstGeom>
          <a:noFill/>
          <a:ln/>
        </p:spPr>
        <p:txBody>
          <a:bodyPr wrap="square" lIns="0" tIns="0" rIns="0" bIns="0" rtlCol="0" anchor="t"/>
          <a:lstStyle/>
          <a:p>
            <a:pPr indent="0" marL="0">
              <a:buNone/>
            </a:pPr>
            <a:r>
              <a:rPr lang="en-US" sz="1400" dirty="0">
                <a:solidFill>
                  <a:schemeClr val="tx1"/>
                </a:solidFill>
              </a:rPr>
              <a:t>If the search misses relevant older papers, an idea can look “new” only because the earlier work was never found.</a:t>
            </a:r>
            <a:endParaRPr lang="en-US" sz="1400" dirty="0"/>
          </a:p>
        </p:txBody>
      </p:sp>
      <p:sp>
        <p:nvSpPr>
          <p:cNvPr id="12" name="Problem card 3"/>
          <p:cNvSpPr/>
          <p:nvPr/>
        </p:nvSpPr>
        <p:spPr>
          <a:xfrm>
            <a:off x="8046720" y="2697480"/>
            <a:ext cx="3566160" cy="2514600"/>
          </a:xfrm>
          <a:prstGeom prst="roundRect">
            <a:avLst>
              <a:gd name="adj" fmla="val 4364"/>
            </a:avLst>
          </a:prstGeom>
          <a:solidFill>
            <a:schemeClr val="bg2"/>
          </a:solidFill>
          <a:ln/>
        </p:spPr>
      </p:sp>
      <p:sp>
        <p:nvSpPr>
          <p:cNvPr id="13" name="Problem badge 3"/>
          <p:cNvSpPr txBox="1"/>
          <p:nvPr/>
        </p:nvSpPr>
        <p:spPr>
          <a:xfrm>
            <a:off x="8275320" y="2926080"/>
            <a:ext cx="457200" cy="457200"/>
          </a:xfrm>
          <a:prstGeom prst="ellipse">
            <a:avLst/>
          </a:prstGeom>
          <a:solidFill>
            <a:srgbClr val="5B6C8F"/>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Problem heading 3"/>
          <p:cNvSpPr txBox="1"/>
          <p:nvPr/>
        </p:nvSpPr>
        <p:spPr>
          <a:xfrm>
            <a:off x="8869680" y="292608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Claims with no proof</a:t>
            </a:r>
            <a:endParaRPr lang="en-US" sz="1800" dirty="0"/>
          </a:p>
        </p:txBody>
      </p:sp>
      <p:sp>
        <p:nvSpPr>
          <p:cNvPr id="15" name="Problem text 3"/>
          <p:cNvSpPr txBox="1"/>
          <p:nvPr/>
        </p:nvSpPr>
        <p:spPr>
          <a:xfrm>
            <a:off x="8275320" y="3566160"/>
            <a:ext cx="3108960" cy="1554480"/>
          </a:xfrm>
          <a:prstGeom prst="rect">
            <a:avLst/>
          </a:prstGeom>
          <a:noFill/>
          <a:ln/>
        </p:spPr>
        <p:txBody>
          <a:bodyPr wrap="square" lIns="0" tIns="0" rIns="0" bIns="0" rtlCol="0" anchor="t"/>
          <a:lstStyle/>
          <a:p>
            <a:pPr indent="0" marL="0">
              <a:buNone/>
            </a:pPr>
            <a:r>
              <a:rPr lang="en-US" sz="1400" dirty="0">
                <a:solidFill>
                  <a:schemeClr val="tx1"/>
                </a:solidFill>
              </a:rPr>
              <a:t>If a claim the AI pulled out cannot be traced to a sentence in the original paper, nobody can check it.</a:t>
            </a:r>
            <a:endParaRPr lang="en-US" sz="1400" dirty="0"/>
          </a:p>
        </p:txBody>
      </p:sp>
      <p:sp>
        <p:nvSpPr>
          <p:cNvPr id="16" name="Research question banner"/>
          <p:cNvSpPr/>
          <p:nvPr/>
        </p:nvSpPr>
        <p:spPr>
          <a:xfrm>
            <a:off x="548640" y="5440680"/>
            <a:ext cx="11064240" cy="868680"/>
          </a:xfrm>
          <a:prstGeom prst="roundRect">
            <a:avLst>
              <a:gd name="adj" fmla="val 12632"/>
            </a:avLst>
          </a:prstGeom>
          <a:solidFill>
            <a:schemeClr val="tx2"/>
          </a:solidFill>
          <a:ln/>
        </p:spPr>
      </p:sp>
      <p:sp>
        <p:nvSpPr>
          <p:cNvPr id="17" name="Research question"/>
          <p:cNvSpPr txBox="1"/>
          <p:nvPr/>
        </p:nvSpPr>
        <p:spPr>
          <a:xfrm>
            <a:off x="822960" y="5440680"/>
            <a:ext cx="10515600" cy="868680"/>
          </a:xfrm>
          <a:prstGeom prst="rect">
            <a:avLst/>
          </a:prstGeom>
          <a:noFill/>
          <a:ln/>
        </p:spPr>
        <p:txBody>
          <a:bodyPr wrap="square" lIns="0" tIns="0" rIns="0" bIns="0" rtlCol="0" anchor="ctr"/>
          <a:lstStyle/>
          <a:p>
            <a:pPr indent="0" marL="0">
              <a:buNone/>
            </a:pPr>
            <a:r>
              <a:rPr lang="en-US" sz="1800" b="1" dirty="0">
                <a:solidFill>
                  <a:schemeClr val="accent3"/>
                </a:solidFill>
              </a:rPr>
              <a:t>Main question  </a:t>
            </a:r>
            <a:pPr indent="0" marL="0">
              <a:buNone/>
            </a:pPr>
            <a:r>
              <a:rPr lang="en-US" sz="1800" dirty="0">
                <a:solidFill>
                  <a:schemeClr val="bg1"/>
                </a:solidFill>
              </a:rPr>
              <a:t>How can we check, and honestly report, how good the foundation under a gap-finding tool is?</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Objectives</a:t>
            </a:r>
            <a:endParaRPr lang="en-US" sz="3400" dirty="0"/>
          </a:p>
        </p:txBody>
      </p:sp>
      <p:sp>
        <p:nvSpPr>
          <p:cNvPr id="3" name="Objective row 1"/>
          <p:cNvSpPr/>
          <p:nvPr/>
        </p:nvSpPr>
        <p:spPr>
          <a:xfrm>
            <a:off x="548640" y="1371600"/>
            <a:ext cx="11064240" cy="1005840"/>
          </a:xfrm>
          <a:prstGeom prst="roundRect">
            <a:avLst>
              <a:gd name="adj" fmla="val 10909"/>
            </a:avLst>
          </a:prstGeom>
          <a:solidFill>
            <a:schemeClr val="bg2"/>
          </a:solidFill>
          <a:ln/>
        </p:spPr>
      </p:sp>
      <p:sp>
        <p:nvSpPr>
          <p:cNvPr id="4" name="Objective badge 1"/>
          <p:cNvSpPr txBox="1"/>
          <p:nvPr/>
        </p:nvSpPr>
        <p:spPr>
          <a:xfrm>
            <a:off x="822960" y="1627632"/>
            <a:ext cx="493776" cy="493776"/>
          </a:xfrm>
          <a:prstGeom prst="ellipse">
            <a:avLst/>
          </a:prstGeom>
          <a:solidFill>
            <a:srgbClr val="0B7A75"/>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Objective text 1"/>
          <p:cNvSpPr txBox="1"/>
          <p:nvPr/>
        </p:nvSpPr>
        <p:spPr>
          <a:xfrm>
            <a:off x="1600200" y="1444752"/>
            <a:ext cx="8412480" cy="859536"/>
          </a:xfrm>
          <a:prstGeom prst="rect">
            <a:avLst/>
          </a:prstGeom>
          <a:noFill/>
          <a:ln/>
        </p:spPr>
        <p:txBody>
          <a:bodyPr wrap="square" lIns="0" tIns="0" rIns="0" bIns="0" rtlCol="0" anchor="ctr"/>
          <a:lstStyle/>
          <a:p>
            <a:pPr indent="0" marL="0">
              <a:buNone/>
            </a:pPr>
            <a:r>
              <a:rPr lang="en-US" sz="1800" b="1" dirty="0">
                <a:solidFill>
                  <a:schemeClr val="tx2"/>
                </a:solidFill>
              </a:rPr>
              <a:t>Check for off-topic papers</a:t>
            </a:r>
            <a:endParaRPr lang="en-US" sz="1800" dirty="0"/>
          </a:p>
          <a:p>
            <a:pPr indent="0" marL="0">
              <a:buNone/>
            </a:pPr>
            <a:r>
              <a:rPr lang="en-US" sz="1400" dirty="0">
                <a:solidFill>
                  <a:schemeClr val="tx1"/>
                </a:solidFill>
              </a:rPr>
              <a:t>Find out how many unrelated papers got into the collection, and whether a strict keyword rule keeps them out.</a:t>
            </a:r>
            <a:endParaRPr lang="en-US" sz="1800" dirty="0"/>
          </a:p>
        </p:txBody>
      </p:sp>
      <p:sp>
        <p:nvSpPr>
          <p:cNvPr id="6" name="RQ tag 1"/>
          <p:cNvSpPr txBox="1"/>
          <p:nvPr/>
        </p:nvSpPr>
        <p:spPr>
          <a:xfrm>
            <a:off x="10241280" y="1645920"/>
            <a:ext cx="1097280" cy="457200"/>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RQ1</a:t>
            </a:r>
            <a:endParaRPr lang="en-US" sz="1400" dirty="0"/>
          </a:p>
        </p:txBody>
      </p:sp>
      <p:sp>
        <p:nvSpPr>
          <p:cNvPr id="7" name="Objective row 2"/>
          <p:cNvSpPr/>
          <p:nvPr/>
        </p:nvSpPr>
        <p:spPr>
          <a:xfrm>
            <a:off x="548640" y="2560320"/>
            <a:ext cx="11064240" cy="1005840"/>
          </a:xfrm>
          <a:prstGeom prst="roundRect">
            <a:avLst>
              <a:gd name="adj" fmla="val 10909"/>
            </a:avLst>
          </a:prstGeom>
          <a:solidFill>
            <a:schemeClr val="bg2"/>
          </a:solidFill>
          <a:ln/>
        </p:spPr>
      </p:sp>
      <p:sp>
        <p:nvSpPr>
          <p:cNvPr id="8" name="Objective badge 2"/>
          <p:cNvSpPr txBox="1"/>
          <p:nvPr/>
        </p:nvSpPr>
        <p:spPr>
          <a:xfrm>
            <a:off x="822960" y="2816352"/>
            <a:ext cx="493776" cy="493776"/>
          </a:xfrm>
          <a:prstGeom prst="ellipse">
            <a:avLst/>
          </a:prstGeom>
          <a:solidFill>
            <a:srgbClr val="0B7A75"/>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Objective text 2"/>
          <p:cNvSpPr txBox="1"/>
          <p:nvPr/>
        </p:nvSpPr>
        <p:spPr>
          <a:xfrm>
            <a:off x="1600200" y="2633472"/>
            <a:ext cx="8412480" cy="859536"/>
          </a:xfrm>
          <a:prstGeom prst="rect">
            <a:avLst/>
          </a:prstGeom>
          <a:noFill/>
          <a:ln/>
        </p:spPr>
        <p:txBody>
          <a:bodyPr wrap="square" lIns="0" tIns="0" rIns="0" bIns="0" rtlCol="0" anchor="ctr"/>
          <a:lstStyle/>
          <a:p>
            <a:pPr indent="0" marL="0">
              <a:buNone/>
            </a:pPr>
            <a:r>
              <a:rPr lang="en-US" sz="1800" b="1" dirty="0">
                <a:solidFill>
                  <a:schemeClr val="tx2"/>
                </a:solidFill>
              </a:rPr>
              <a:t>Compare search methods</a:t>
            </a:r>
            <a:endParaRPr lang="en-US" sz="1800" dirty="0"/>
          </a:p>
          <a:p>
            <a:pPr indent="0" marL="0">
              <a:buNone/>
            </a:pPr>
            <a:r>
              <a:rPr lang="en-US" sz="1400" dirty="0">
                <a:solidFill>
                  <a:schemeClr val="tx1"/>
                </a:solidFill>
              </a:rPr>
              <a:t>Compare three ways of finding related papers: keyword search (BM25), meaning-based search (dense retrieval) and a mix of both (RRF).</a:t>
            </a:r>
            <a:endParaRPr lang="en-US" sz="1800" dirty="0"/>
          </a:p>
        </p:txBody>
      </p:sp>
      <p:sp>
        <p:nvSpPr>
          <p:cNvPr id="10" name="RQ tag 2"/>
          <p:cNvSpPr txBox="1"/>
          <p:nvPr/>
        </p:nvSpPr>
        <p:spPr>
          <a:xfrm>
            <a:off x="10241280" y="2834640"/>
            <a:ext cx="1097280" cy="457200"/>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RQ2</a:t>
            </a:r>
            <a:endParaRPr lang="en-US" sz="1400" dirty="0"/>
          </a:p>
        </p:txBody>
      </p:sp>
      <p:sp>
        <p:nvSpPr>
          <p:cNvPr id="11" name="Objective row 3"/>
          <p:cNvSpPr/>
          <p:nvPr/>
        </p:nvSpPr>
        <p:spPr>
          <a:xfrm>
            <a:off x="548640" y="3749040"/>
            <a:ext cx="11064240" cy="1005840"/>
          </a:xfrm>
          <a:prstGeom prst="roundRect">
            <a:avLst>
              <a:gd name="adj" fmla="val 10909"/>
            </a:avLst>
          </a:prstGeom>
          <a:solidFill>
            <a:schemeClr val="bg2"/>
          </a:solidFill>
          <a:ln/>
        </p:spPr>
      </p:sp>
      <p:sp>
        <p:nvSpPr>
          <p:cNvPr id="12" name="Objective badge 3"/>
          <p:cNvSpPr txBox="1"/>
          <p:nvPr/>
        </p:nvSpPr>
        <p:spPr>
          <a:xfrm>
            <a:off x="822960" y="4005072"/>
            <a:ext cx="493776" cy="493776"/>
          </a:xfrm>
          <a:prstGeom prst="ellipse">
            <a:avLst/>
          </a:prstGeom>
          <a:solidFill>
            <a:srgbClr val="0B7A75"/>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Objective text 3"/>
          <p:cNvSpPr txBox="1"/>
          <p:nvPr/>
        </p:nvSpPr>
        <p:spPr>
          <a:xfrm>
            <a:off x="1600200" y="3822192"/>
            <a:ext cx="8412480" cy="859536"/>
          </a:xfrm>
          <a:prstGeom prst="rect">
            <a:avLst/>
          </a:prstGeom>
          <a:noFill/>
          <a:ln/>
        </p:spPr>
        <p:txBody>
          <a:bodyPr wrap="square" lIns="0" tIns="0" rIns="0" bIns="0" rtlCol="0" anchor="ctr"/>
          <a:lstStyle/>
          <a:p>
            <a:pPr indent="0" marL="0">
              <a:buNone/>
            </a:pPr>
            <a:r>
              <a:rPr lang="en-US" sz="1800" b="1" dirty="0">
                <a:solidFill>
                  <a:schemeClr val="tx2"/>
                </a:solidFill>
              </a:rPr>
              <a:t>Check the AI’s fact extraction</a:t>
            </a:r>
            <a:endParaRPr lang="en-US" sz="1800" dirty="0"/>
          </a:p>
          <a:p>
            <a:pPr indent="0" marL="0">
              <a:buNone/>
            </a:pPr>
            <a:r>
              <a:rPr lang="en-US" sz="1400" dirty="0">
                <a:solidFill>
                  <a:schemeClr val="tx1"/>
                </a:solidFill>
              </a:rPr>
              <a:t>See how reliably an AI can pull out key facts (task, method, dataset…) with proof from the text, and how well it agrees with human reviewers.</a:t>
            </a:r>
            <a:endParaRPr lang="en-US" sz="1800" dirty="0"/>
          </a:p>
        </p:txBody>
      </p:sp>
      <p:sp>
        <p:nvSpPr>
          <p:cNvPr id="14" name="RQ tag 3"/>
          <p:cNvSpPr txBox="1"/>
          <p:nvPr/>
        </p:nvSpPr>
        <p:spPr>
          <a:xfrm>
            <a:off x="10241280" y="4023360"/>
            <a:ext cx="1097280" cy="457200"/>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RQ3</a:t>
            </a:r>
            <a:endParaRPr lang="en-US" sz="1400" dirty="0"/>
          </a:p>
        </p:txBody>
      </p:sp>
      <p:sp>
        <p:nvSpPr>
          <p:cNvPr id="15" name="Objective row 4"/>
          <p:cNvSpPr/>
          <p:nvPr/>
        </p:nvSpPr>
        <p:spPr>
          <a:xfrm>
            <a:off x="548640" y="4937760"/>
            <a:ext cx="11064240" cy="1005840"/>
          </a:xfrm>
          <a:prstGeom prst="roundRect">
            <a:avLst>
              <a:gd name="adj" fmla="val 10909"/>
            </a:avLst>
          </a:prstGeom>
          <a:solidFill>
            <a:schemeClr val="bg2"/>
          </a:solidFill>
          <a:ln/>
        </p:spPr>
      </p:sp>
      <p:sp>
        <p:nvSpPr>
          <p:cNvPr id="16" name="Objective badge 4"/>
          <p:cNvSpPr txBox="1"/>
          <p:nvPr/>
        </p:nvSpPr>
        <p:spPr>
          <a:xfrm>
            <a:off x="822960" y="5193792"/>
            <a:ext cx="493776" cy="493776"/>
          </a:xfrm>
          <a:prstGeom prst="ellipse">
            <a:avLst/>
          </a:prstGeom>
          <a:solidFill>
            <a:srgbClr val="0B7A75"/>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Objective text 4"/>
          <p:cNvSpPr txBox="1"/>
          <p:nvPr/>
        </p:nvSpPr>
        <p:spPr>
          <a:xfrm>
            <a:off x="1600200" y="5010912"/>
            <a:ext cx="8412480" cy="859536"/>
          </a:xfrm>
          <a:prstGeom prst="rect">
            <a:avLst/>
          </a:prstGeom>
          <a:noFill/>
          <a:ln/>
        </p:spPr>
        <p:txBody>
          <a:bodyPr wrap="square" lIns="0" tIns="0" rIns="0" bIns="0" rtlCol="0" anchor="ctr"/>
          <a:lstStyle/>
          <a:p>
            <a:pPr indent="0" marL="0">
              <a:buNone/>
            </a:pPr>
            <a:r>
              <a:rPr lang="en-US" sz="1800" b="1" dirty="0">
                <a:solidFill>
                  <a:schemeClr val="tx2"/>
                </a:solidFill>
              </a:rPr>
              <a:t>Look for research gaps</a:t>
            </a:r>
            <a:endParaRPr lang="en-US" sz="1800" dirty="0"/>
          </a:p>
          <a:p>
            <a:pPr indent="0" marL="0">
              <a:buNone/>
            </a:pPr>
            <a:r>
              <a:rPr lang="en-US" sz="1400" dirty="0">
                <a:solidFill>
                  <a:schemeClr val="tx1"/>
                </a:solidFill>
              </a:rPr>
              <a:t>Test whether rarely studied combinations of task, method and dataset can point to real research gaps.</a:t>
            </a:r>
            <a:endParaRPr lang="en-US" sz="1800" dirty="0"/>
          </a:p>
        </p:txBody>
      </p:sp>
      <p:sp>
        <p:nvSpPr>
          <p:cNvPr id="18" name="RQ tag 4"/>
          <p:cNvSpPr txBox="1"/>
          <p:nvPr/>
        </p:nvSpPr>
        <p:spPr>
          <a:xfrm>
            <a:off x="10241280" y="5212080"/>
            <a:ext cx="1097280" cy="457200"/>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400" b="1" dirty="0">
                <a:solidFill>
                  <a:schemeClr val="accent1"/>
                </a:solidFill>
              </a:rPr>
              <a:t>RQ4</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Introduction</a:t>
            </a:r>
            <a:endParaRPr lang="en-US" sz="3400" dirty="0"/>
          </a:p>
        </p:txBody>
      </p:sp>
      <p:sp>
        <p:nvSpPr>
          <p:cNvPr id="3" name="Intro card 1"/>
          <p:cNvSpPr/>
          <p:nvPr/>
        </p:nvSpPr>
        <p:spPr>
          <a:xfrm>
            <a:off x="548640" y="1371600"/>
            <a:ext cx="5440680" cy="2331720"/>
          </a:xfrm>
          <a:prstGeom prst="roundRect">
            <a:avLst>
              <a:gd name="adj" fmla="val 4706"/>
            </a:avLst>
          </a:prstGeom>
          <a:solidFill>
            <a:schemeClr val="bg2"/>
          </a:solidFill>
          <a:ln/>
        </p:spPr>
      </p:sp>
      <p:sp>
        <p:nvSpPr>
          <p:cNvPr id="4" name="Intro badge 1"/>
          <p:cNvSpPr txBox="1"/>
          <p:nvPr/>
        </p:nvSpPr>
        <p:spPr>
          <a:xfrm>
            <a:off x="777240" y="1600200"/>
            <a:ext cx="457200" cy="457200"/>
          </a:xfrm>
          <a:prstGeom prst="ellipse">
            <a:avLst/>
          </a:prstGeom>
          <a:solidFill>
            <a:srgbClr val="0B7A75"/>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5" name="Intro heading 1"/>
          <p:cNvSpPr txBox="1"/>
          <p:nvPr/>
        </p:nvSpPr>
        <p:spPr>
          <a:xfrm>
            <a:off x="1417320" y="1600200"/>
            <a:ext cx="4297680" cy="457200"/>
          </a:xfrm>
          <a:prstGeom prst="rect">
            <a:avLst/>
          </a:prstGeom>
          <a:noFill/>
          <a:ln/>
        </p:spPr>
        <p:txBody>
          <a:bodyPr wrap="square" lIns="0" tIns="0" rIns="0" bIns="0" rtlCol="0" anchor="ctr"/>
          <a:lstStyle/>
          <a:p>
            <a:pPr indent="0" marL="0">
              <a:buNone/>
            </a:pPr>
            <a:r>
              <a:rPr lang="en-US" sz="2000" b="1" dirty="0">
                <a:solidFill>
                  <a:schemeClr val="tx2"/>
                </a:solidFill>
              </a:rPr>
              <a:t>Background</a:t>
            </a:r>
            <a:endParaRPr lang="en-US" sz="2000" dirty="0"/>
          </a:p>
        </p:txBody>
      </p:sp>
      <p:sp>
        <p:nvSpPr>
          <p:cNvPr id="6" name="Intro text 1"/>
          <p:cNvSpPr txBox="1"/>
          <p:nvPr/>
        </p:nvSpPr>
        <p:spPr>
          <a:xfrm>
            <a:off x="777240" y="2148840"/>
            <a:ext cx="4983480" cy="1508760"/>
          </a:xfrm>
          <a:prstGeom prst="rect">
            <a:avLst/>
          </a:prstGeom>
          <a:noFill/>
          <a:ln/>
        </p:spPr>
        <p:txBody>
          <a:bodyPr wrap="square" lIns="0" tIns="0" rIns="0" bIns="0" rtlCol="0" anchor="t"/>
          <a:lstStyle/>
          <a:p>
            <a:pPr indent="0" marL="0">
              <a:buNone/>
            </a:pPr>
            <a:r>
              <a:rPr lang="en-US" sz="1400" dirty="0">
                <a:solidFill>
                  <a:schemeClr val="tx1"/>
                </a:solidFill>
              </a:rPr>
              <a:t>AI tools that suggest research gaps are usually judged by how believable their ideas sound. But believable is not the same as true. A tool needs the right papers, a way to find earlier work, and claims linked to their source. GNN research is a hard test because its terms are also used in other fields.</a:t>
            </a:r>
            <a:endParaRPr lang="en-US" sz="1400" dirty="0"/>
          </a:p>
        </p:txBody>
      </p:sp>
      <p:sp>
        <p:nvSpPr>
          <p:cNvPr id="7" name="Intro card 2"/>
          <p:cNvSpPr/>
          <p:nvPr/>
        </p:nvSpPr>
        <p:spPr>
          <a:xfrm>
            <a:off x="6172200" y="1371600"/>
            <a:ext cx="5440680" cy="2331720"/>
          </a:xfrm>
          <a:prstGeom prst="roundRect">
            <a:avLst>
              <a:gd name="adj" fmla="val 4706"/>
            </a:avLst>
          </a:prstGeom>
          <a:solidFill>
            <a:schemeClr val="bg2"/>
          </a:solidFill>
          <a:ln/>
        </p:spPr>
      </p:sp>
      <p:sp>
        <p:nvSpPr>
          <p:cNvPr id="8" name="Intro badge 2"/>
          <p:cNvSpPr txBox="1"/>
          <p:nvPr/>
        </p:nvSpPr>
        <p:spPr>
          <a:xfrm>
            <a:off x="6400800" y="1600200"/>
            <a:ext cx="457200" cy="457200"/>
          </a:xfrm>
          <a:prstGeom prst="ellipse">
            <a:avLst/>
          </a:prstGeom>
          <a:solidFill>
            <a:srgbClr val="5B6C8F"/>
          </a:solidFill>
          <a:ln/>
        </p:spPr>
        <p:txBody>
          <a:bodyPr wrap="square" lIns="0" tIns="0" rIns="0" bIns="0" rtlCol="0" anchor="ctr"/>
          <a:lstStyle/>
          <a:p>
            <a:pPr algn="ctr" indent="0" marL="0">
              <a:buNone/>
            </a:pPr>
            <a:r>
              <a:rPr lang="en-US" sz="1800" b="1" dirty="0">
                <a:solidFill>
                  <a:schemeClr val="bg1"/>
                </a:solidFill>
              </a:rPr>
              <a:t>W</a:t>
            </a:r>
            <a:endParaRPr lang="en-US" sz="1800" dirty="0"/>
          </a:p>
        </p:txBody>
      </p:sp>
      <p:sp>
        <p:nvSpPr>
          <p:cNvPr id="9" name="Intro heading 2"/>
          <p:cNvSpPr txBox="1"/>
          <p:nvPr/>
        </p:nvSpPr>
        <p:spPr>
          <a:xfrm>
            <a:off x="7040880" y="1600200"/>
            <a:ext cx="4297680" cy="457200"/>
          </a:xfrm>
          <a:prstGeom prst="rect">
            <a:avLst/>
          </a:prstGeom>
          <a:noFill/>
          <a:ln/>
        </p:spPr>
        <p:txBody>
          <a:bodyPr wrap="square" lIns="0" tIns="0" rIns="0" bIns="0" rtlCol="0" anchor="ctr"/>
          <a:lstStyle/>
          <a:p>
            <a:pPr indent="0" marL="0">
              <a:buNone/>
            </a:pPr>
            <a:r>
              <a:rPr lang="en-US" sz="2000" b="1" dirty="0">
                <a:solidFill>
                  <a:schemeClr val="tx2"/>
                </a:solidFill>
              </a:rPr>
              <a:t>Why it matters</a:t>
            </a:r>
            <a:endParaRPr lang="en-US" sz="2000" dirty="0"/>
          </a:p>
        </p:txBody>
      </p:sp>
      <p:sp>
        <p:nvSpPr>
          <p:cNvPr id="10" name="Intro text 2"/>
          <p:cNvSpPr txBox="1"/>
          <p:nvPr/>
        </p:nvSpPr>
        <p:spPr>
          <a:xfrm>
            <a:off x="6400800" y="2148840"/>
            <a:ext cx="4983480" cy="1508760"/>
          </a:xfrm>
          <a:prstGeom prst="rect">
            <a:avLst/>
          </a:prstGeom>
          <a:noFill/>
          <a:ln/>
        </p:spPr>
        <p:txBody>
          <a:bodyPr wrap="square" lIns="0" tIns="0" rIns="0" bIns="0" rtlCol="0" anchor="t"/>
          <a:lstStyle/>
          <a:p>
            <a:pPr indent="0" marL="0">
              <a:buNone/>
            </a:pPr>
            <a:r>
              <a:rPr lang="en-US" sz="1400" dirty="0">
                <a:solidFill>
                  <a:schemeClr val="tx1"/>
                </a:solidFill>
              </a:rPr>
              <a:t>More and more researchers use automated literature tools. Clear evidence about the quality of the paper collection and of the AI’s fact extraction shows how far these tools can be trusted.</a:t>
            </a:r>
            <a:endParaRPr lang="en-US" sz="1400" dirty="0"/>
          </a:p>
        </p:txBody>
      </p:sp>
      <p:sp>
        <p:nvSpPr>
          <p:cNvPr id="11" name="Intro card 3"/>
          <p:cNvSpPr/>
          <p:nvPr/>
        </p:nvSpPr>
        <p:spPr>
          <a:xfrm>
            <a:off x="548640" y="3886200"/>
            <a:ext cx="5440680" cy="2331720"/>
          </a:xfrm>
          <a:prstGeom prst="roundRect">
            <a:avLst>
              <a:gd name="adj" fmla="val 4706"/>
            </a:avLst>
          </a:prstGeom>
          <a:solidFill>
            <a:schemeClr val="bg2"/>
          </a:solidFill>
          <a:ln/>
        </p:spPr>
      </p:sp>
      <p:sp>
        <p:nvSpPr>
          <p:cNvPr id="12" name="Intro badge 3"/>
          <p:cNvSpPr txBox="1"/>
          <p:nvPr/>
        </p:nvSpPr>
        <p:spPr>
          <a:xfrm>
            <a:off x="777240" y="4114800"/>
            <a:ext cx="457200" cy="457200"/>
          </a:xfrm>
          <a:prstGeom prst="ellipse">
            <a:avLst/>
          </a:prstGeom>
          <a:solidFill>
            <a:srgbClr val="E4572E"/>
          </a:solidFill>
          <a:ln/>
        </p:spPr>
        <p:txBody>
          <a:bodyPr wrap="square" lIns="0" tIns="0" rIns="0" bIns="0" rtlCol="0" anchor="ctr"/>
          <a:lstStyle/>
          <a:p>
            <a:pPr algn="ctr" indent="0" marL="0">
              <a:buNone/>
            </a:pPr>
            <a:r>
              <a:rPr lang="en-US" sz="1800" b="1" dirty="0">
                <a:solidFill>
                  <a:schemeClr val="bg1"/>
                </a:solidFill>
              </a:rPr>
              <a:t>W</a:t>
            </a:r>
            <a:endParaRPr lang="en-US" sz="1800" dirty="0"/>
          </a:p>
        </p:txBody>
      </p:sp>
      <p:sp>
        <p:nvSpPr>
          <p:cNvPr id="13" name="Intro heading 3"/>
          <p:cNvSpPr txBox="1"/>
          <p:nvPr/>
        </p:nvSpPr>
        <p:spPr>
          <a:xfrm>
            <a:off x="1417320" y="4114800"/>
            <a:ext cx="4297680" cy="457200"/>
          </a:xfrm>
          <a:prstGeom prst="rect">
            <a:avLst/>
          </a:prstGeom>
          <a:noFill/>
          <a:ln/>
        </p:spPr>
        <p:txBody>
          <a:bodyPr wrap="square" lIns="0" tIns="0" rIns="0" bIns="0" rtlCol="0" anchor="ctr"/>
          <a:lstStyle/>
          <a:p>
            <a:pPr indent="0" marL="0">
              <a:buNone/>
            </a:pPr>
            <a:r>
              <a:rPr lang="en-US" sz="2000" b="1" dirty="0">
                <a:solidFill>
                  <a:schemeClr val="tx2"/>
                </a:solidFill>
              </a:rPr>
              <a:t>What is missing</a:t>
            </a:r>
            <a:endParaRPr lang="en-US" sz="2000" dirty="0"/>
          </a:p>
        </p:txBody>
      </p:sp>
      <p:sp>
        <p:nvSpPr>
          <p:cNvPr id="14" name="Intro text 3"/>
          <p:cNvSpPr txBox="1"/>
          <p:nvPr/>
        </p:nvSpPr>
        <p:spPr>
          <a:xfrm>
            <a:off x="777240" y="4663440"/>
            <a:ext cx="4983480" cy="1508760"/>
          </a:xfrm>
          <a:prstGeom prst="rect">
            <a:avLst/>
          </a:prstGeom>
          <a:noFill/>
          <a:ln/>
        </p:spPr>
        <p:txBody>
          <a:bodyPr wrap="square" lIns="0" tIns="0" rIns="0" bIns="0" rtlCol="0" anchor="t"/>
          <a:lstStyle/>
          <a:p>
            <a:pPr indent="0" marL="0">
              <a:buNone/>
            </a:pPr>
            <a:r>
              <a:rPr lang="en-US" sz="1400" dirty="0">
                <a:solidFill>
                  <a:schemeClr val="tx1"/>
                </a:solidFill>
              </a:rPr>
              <a:t>Earlier studies mainly judge what the tools produce: ideas, reviews or text. We check what goes in: the paper collection, the proof behind each claim, and whether the way accuracy is scored changes the result.</a:t>
            </a:r>
            <a:endParaRPr lang="en-US" sz="1400" dirty="0"/>
          </a:p>
        </p:txBody>
      </p:sp>
      <p:sp>
        <p:nvSpPr>
          <p:cNvPr id="15" name="Intro card 4"/>
          <p:cNvSpPr/>
          <p:nvPr/>
        </p:nvSpPr>
        <p:spPr>
          <a:xfrm>
            <a:off x="6172200" y="3886200"/>
            <a:ext cx="5440680" cy="2331720"/>
          </a:xfrm>
          <a:prstGeom prst="roundRect">
            <a:avLst>
              <a:gd name="adj" fmla="val 4706"/>
            </a:avLst>
          </a:prstGeom>
          <a:solidFill>
            <a:schemeClr val="bg2"/>
          </a:solidFill>
          <a:ln/>
        </p:spPr>
      </p:sp>
      <p:sp>
        <p:nvSpPr>
          <p:cNvPr id="16" name="Intro badge 4"/>
          <p:cNvSpPr txBox="1"/>
          <p:nvPr/>
        </p:nvSpPr>
        <p:spPr>
          <a:xfrm>
            <a:off x="6400800" y="4114800"/>
            <a:ext cx="457200" cy="457200"/>
          </a:xfrm>
          <a:prstGeom prst="ellipse">
            <a:avLst/>
          </a:prstGeom>
          <a:solidFill>
            <a:srgbClr val="A63D40"/>
          </a:solidFill>
          <a:ln/>
        </p:spPr>
        <p:txBody>
          <a:bodyPr wrap="square" lIns="0" tIns="0" rIns="0" bIns="0" rtlCol="0" anchor="ctr"/>
          <a:lstStyle/>
          <a:p>
            <a:pPr algn="ctr" indent="0" marL="0">
              <a:buNone/>
            </a:pPr>
            <a:r>
              <a:rPr lang="en-US" sz="1800" b="1" dirty="0">
                <a:solidFill>
                  <a:schemeClr val="bg1"/>
                </a:solidFill>
              </a:rPr>
              <a:t>S</a:t>
            </a:r>
            <a:endParaRPr lang="en-US" sz="1800" dirty="0"/>
          </a:p>
        </p:txBody>
      </p:sp>
      <p:sp>
        <p:nvSpPr>
          <p:cNvPr id="17" name="Intro heading 4"/>
          <p:cNvSpPr txBox="1"/>
          <p:nvPr/>
        </p:nvSpPr>
        <p:spPr>
          <a:xfrm>
            <a:off x="7040880" y="4114800"/>
            <a:ext cx="4297680" cy="457200"/>
          </a:xfrm>
          <a:prstGeom prst="rect">
            <a:avLst/>
          </a:prstGeom>
          <a:noFill/>
          <a:ln/>
        </p:spPr>
        <p:txBody>
          <a:bodyPr wrap="square" lIns="0" tIns="0" rIns="0" bIns="0" rtlCol="0" anchor="ctr"/>
          <a:lstStyle/>
          <a:p>
            <a:pPr indent="0" marL="0">
              <a:buNone/>
            </a:pPr>
            <a:r>
              <a:rPr lang="en-US" sz="2000" b="1" dirty="0">
                <a:solidFill>
                  <a:schemeClr val="tx2"/>
                </a:solidFill>
              </a:rPr>
              <a:t>Scope</a:t>
            </a:r>
            <a:endParaRPr lang="en-US" sz="2000" dirty="0"/>
          </a:p>
        </p:txBody>
      </p:sp>
      <p:sp>
        <p:nvSpPr>
          <p:cNvPr id="18" name="Intro text 4"/>
          <p:cNvSpPr txBox="1"/>
          <p:nvPr/>
        </p:nvSpPr>
        <p:spPr>
          <a:xfrm>
            <a:off x="6400800" y="4663440"/>
            <a:ext cx="4983480" cy="1508760"/>
          </a:xfrm>
          <a:prstGeom prst="rect">
            <a:avLst/>
          </a:prstGeom>
          <a:noFill/>
          <a:ln/>
        </p:spPr>
        <p:txBody>
          <a:bodyPr wrap="square" lIns="0" tIns="0" rIns="0" bIns="0" rtlCol="0" anchor="t"/>
          <a:lstStyle/>
          <a:p>
            <a:pPr indent="0" marL="0">
              <a:buNone/>
            </a:pPr>
            <a:r>
              <a:rPr lang="en-US" sz="1400" dirty="0">
                <a:solidFill>
                  <a:schemeClr val="tx1"/>
                </a:solidFill>
              </a:rPr>
              <a:t>English papers from OpenAlex (2015–2026) that have abstracts; 19 search tests built from survey papers; facts read from abstracts only.</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Literature Review</a:t>
            </a:r>
            <a:endParaRPr lang="en-US" sz="3400" dirty="0"/>
          </a:p>
        </p:txBody>
      </p:sp>
      <p:graphicFrame>
        <p:nvGraphicFramePr>
          <p:cNvPr id="7" name="Literature review table"/>
          <p:cNvGraphicFramePr>
            <a:graphicFrameLocks noGrp="1"/>
          </p:cNvGraphicFramePr>
          <p:nvPr>
            <p:extLst>
              <p:ext uri="{D42A27DB-BD31-4B8C-83A1-F6EECF244321}">
                <p14:modId xmlns:p14="http://schemas.microsoft.com/office/powerpoint/2010/main" val="1579011935"/>
              </p:ext>
            </p:extLst>
          </p:nvPr>
        </p:nvGraphicFramePr>
        <p:xfrm>
          <a:off x="548640" y="1115568"/>
          <a:ext cx="11064240" cy="914400"/>
        </p:xfrm>
        <a:graphic>
          <a:graphicData uri="http://schemas.openxmlformats.org/drawingml/2006/table">
            <a:tbl>
              <a:tblPr/>
              <a:tblGrid>
                <a:gridCol w="4480560"/>
                <a:gridCol w="2194560"/>
                <a:gridCol w="4389120"/>
              </a:tblGrid>
              <a:tr h="329184">
                <a:tc>
                  <a:txBody>
                    <a:bodyPr/>
                    <a:lstStyle/>
                    <a:p>
                      <a:pPr indent="0" marL="0">
                        <a:buNone/>
                      </a:pPr>
                      <a:r>
                        <a:rPr lang="en-US" sz="1200" b="1" dirty="0">
                          <a:solidFill>
                            <a:srgbClr val="FFFFFF"/>
                          </a:solidFill>
                        </a:rPr>
                        <a:t>Paper title &amp; publication</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indent="0" marL="0">
                        <a:buNone/>
                      </a:pPr>
                      <a:r>
                        <a:rPr lang="en-US" sz="1200" b="1" dirty="0">
                          <a:solidFill>
                            <a:srgbClr val="FFFFFF"/>
                          </a:solidFill>
                        </a:rPr>
                        <a:t>Author(s)</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indent="0" marL="0">
                        <a:buNone/>
                      </a:pPr>
                      <a:r>
                        <a:rPr lang="en-US" sz="1200" b="1" dirty="0">
                          <a:solidFill>
                            <a:srgbClr val="FFFFFF"/>
                          </a:solidFill>
                        </a:rPr>
                        <a:t>Methodology (what it does)</a:t>
                      </a:r>
                      <a:endParaRPr lang="en-US" sz="1200" dirty="0"/>
                    </a:p>
                  </a:txBody>
                  <a:tcPr marL="91440" marR="91440" marT="18288" marB="18288" anchor="ctr">
                    <a:lnL w="0" cap="flat" cmpd="sng" algn="ctr">
                      <a:noFill/>
                    </a:lnL>
                    <a:lnR w="0" cap="flat" cmpd="sng" algn="ctr">
                      <a:noFill/>
                    </a:lnR>
                    <a:lnT w="0" cap="flat" cmpd="sng" algn="ctr">
                      <a:noFill/>
                    </a:lnT>
                    <a:lnB w="0" cap="flat" cmpd="sng" algn="ctr">
                      <a:noFill/>
                    </a:lnB>
                    <a:solidFill>
                      <a:srgbClr val="0B3C49"/>
                    </a:solidFill>
                  </a:tcPr>
                </a:tc>
              </a:tr>
              <a:tr h="457200">
                <a:tc>
                  <a:txBody>
                    <a:bodyPr/>
                    <a:lstStyle/>
                    <a:p>
                      <a:pPr indent="0" marL="0">
                        <a:buNone/>
                      </a:pPr>
                      <a:r>
                        <a:rPr lang="en-US" sz="1100" b="1" dirty="0">
                          <a:solidFill>
                            <a:srgbClr val="0B3C49"/>
                          </a:solidFill>
                        </a:rPr>
                        <a:t>Undiscovered public knowledge</a:t>
                      </a:r>
                      <a:endParaRPr lang="en-US" sz="1100" dirty="0"/>
                    </a:p>
                    <a:p>
                      <a:pPr indent="0" marL="0">
                        <a:buNone/>
                      </a:pPr>
                      <a:r>
                        <a:rPr lang="en-US" sz="1100" i="1" dirty="0">
                          <a:solidFill>
                            <a:srgbClr val="5B6C8F"/>
                          </a:solidFill>
                        </a:rPr>
                        <a:t>The Library Quarterly (1986)</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c>
                  <a:txBody>
                    <a:bodyPr/>
                    <a:lstStyle/>
                    <a:p>
                      <a:pPr indent="0" marL="0">
                        <a:buNone/>
                      </a:pPr>
                      <a:r>
                        <a:rPr lang="en-US" sz="1100" dirty="0">
                          <a:solidFill>
                            <a:srgbClr val="10212B"/>
                          </a:solidFill>
                        </a:rPr>
                        <a:t>D. R. Swanson</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c>
                  <a:txBody>
                    <a:bodyPr/>
                    <a:lstStyle/>
                    <a:p>
                      <a:pPr indent="0" marL="0">
                        <a:buNone/>
                      </a:pPr>
                      <a:r>
                        <a:rPr lang="en-US" sz="1100" dirty="0">
                          <a:solidFill>
                            <a:srgbClr val="10212B"/>
                          </a:solidFill>
                        </a:rPr>
                        <a:t>Useful knowledge may already exist but stay hidden when related pieces are never connected (“literature-based discovery”)</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B3C49"/>
                          </a:solidFill>
                        </a:rPr>
                        <a:t>Semi-supervised classification with graph convolutional networks</a:t>
                      </a:r>
                      <a:endParaRPr lang="en-US" sz="1100" dirty="0"/>
                    </a:p>
                    <a:p>
                      <a:pPr indent="0" marL="0">
                        <a:buNone/>
                      </a:pPr>
                      <a:r>
                        <a:rPr lang="en-US" sz="1100" i="1" dirty="0">
                          <a:solidFill>
                            <a:srgbClr val="5B6C8F"/>
                          </a:solidFill>
                        </a:rPr>
                        <a:t>ICLR (2017)</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c>
                  <a:txBody>
                    <a:bodyPr/>
                    <a:lstStyle/>
                    <a:p>
                      <a:pPr indent="0" marL="0">
                        <a:buNone/>
                      </a:pPr>
                      <a:r>
                        <a:rPr lang="en-US" sz="1100" dirty="0">
                          <a:solidFill>
                            <a:srgbClr val="10212B"/>
                          </a:solidFill>
                        </a:rPr>
                        <a:t>T. N. Kipf, M. Welling</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c>
                  <a:txBody>
                    <a:bodyPr/>
                    <a:lstStyle/>
                    <a:p>
                      <a:pPr indent="0" marL="0">
                        <a:buNone/>
                      </a:pPr>
                      <a:r>
                        <a:rPr lang="en-US" sz="1100" dirty="0">
                          <a:solidFill>
                            <a:srgbClr val="10212B"/>
                          </a:solidFill>
                        </a:rPr>
                        <a:t>Graph convolutional network: a neural network that learns from data shaped like a network of connected points</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r>
              <a:tr h="457200">
                <a:tc>
                  <a:txBody>
                    <a:bodyPr/>
                    <a:lstStyle/>
                    <a:p>
                      <a:pPr indent="0" marL="0">
                        <a:buNone/>
                      </a:pPr>
                      <a:r>
                        <a:rPr lang="en-US" sz="1100" b="1" dirty="0">
                          <a:solidFill>
                            <a:srgbClr val="0B3C49"/>
                          </a:solidFill>
                        </a:rPr>
                        <a:t>Neural message passing for quantum chemistry</a:t>
                      </a:r>
                      <a:endParaRPr lang="en-US" sz="1100" dirty="0"/>
                    </a:p>
                    <a:p>
                      <a:pPr indent="0" marL="0">
                        <a:buNone/>
                      </a:pPr>
                      <a:r>
                        <a:rPr lang="en-US" sz="1100" i="1" dirty="0">
                          <a:solidFill>
                            <a:srgbClr val="5B6C8F"/>
                          </a:solidFill>
                        </a:rPr>
                        <a:t>ICML, PMLR 70 (2017)</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c>
                  <a:txBody>
                    <a:bodyPr/>
                    <a:lstStyle/>
                    <a:p>
                      <a:pPr indent="0" marL="0">
                        <a:buNone/>
                      </a:pPr>
                      <a:r>
                        <a:rPr lang="en-US" sz="1100" dirty="0">
                          <a:solidFill>
                            <a:srgbClr val="10212B"/>
                          </a:solidFill>
                        </a:rPr>
                        <a:t>J. Gilmer et al.</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c>
                  <a:txBody>
                    <a:bodyPr/>
                    <a:lstStyle/>
                    <a:p>
                      <a:pPr indent="0" marL="0">
                        <a:buNone/>
                      </a:pPr>
                      <a:r>
                        <a:rPr lang="en-US" sz="1100" dirty="0">
                          <a:solidFill>
                            <a:srgbClr val="10212B"/>
                          </a:solidFill>
                        </a:rPr>
                        <a:t>Describes graph models as points passing messages to their neighbours</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B3C49"/>
                          </a:solidFill>
                        </a:rPr>
                        <a:t>Okapi at TREC-3</a:t>
                      </a:r>
                      <a:endParaRPr lang="en-US" sz="1100" dirty="0"/>
                    </a:p>
                    <a:p>
                      <a:pPr indent="0" marL="0">
                        <a:buNone/>
                      </a:pPr>
                      <a:r>
                        <a:rPr lang="en-US" sz="1100" i="1" dirty="0">
                          <a:solidFill>
                            <a:srgbClr val="5B6C8F"/>
                          </a:solidFill>
                        </a:rPr>
                        <a:t>Proc. TREC-3 (1995)</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c>
                  <a:txBody>
                    <a:bodyPr/>
                    <a:lstStyle/>
                    <a:p>
                      <a:pPr indent="0" marL="0">
                        <a:buNone/>
                      </a:pPr>
                      <a:r>
                        <a:rPr lang="en-US" sz="1100" dirty="0">
                          <a:solidFill>
                            <a:srgbClr val="10212B"/>
                          </a:solidFill>
                        </a:rPr>
                        <a:t>S. E. Robertson et al.</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c>
                  <a:txBody>
                    <a:bodyPr/>
                    <a:lstStyle/>
                    <a:p>
                      <a:pPr indent="0" marL="0">
                        <a:buNone/>
                      </a:pPr>
                      <a:r>
                        <a:rPr lang="en-US" sz="1100" dirty="0">
                          <a:solidFill>
                            <a:srgbClr val="10212B"/>
                          </a:solidFill>
                        </a:rPr>
                        <a:t>Okapi weighting, the basis of BM25, a classic keyword-search score</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r>
              <a:tr h="457200">
                <a:tc>
                  <a:txBody>
                    <a:bodyPr/>
                    <a:lstStyle/>
                    <a:p>
                      <a:pPr indent="0" marL="0">
                        <a:buNone/>
                      </a:pPr>
                      <a:r>
                        <a:rPr lang="en-US" sz="1100" b="1" dirty="0">
                          <a:solidFill>
                            <a:srgbClr val="0B3C49"/>
                          </a:solidFill>
                        </a:rPr>
                        <a:t>Sentence-BERT: Sentence embeddings using Siamese BERT-networks</a:t>
                      </a:r>
                      <a:endParaRPr lang="en-US" sz="1100" dirty="0"/>
                    </a:p>
                    <a:p>
                      <a:pPr indent="0" marL="0">
                        <a:buNone/>
                      </a:pPr>
                      <a:r>
                        <a:rPr lang="en-US" sz="1100" i="1" dirty="0">
                          <a:solidFill>
                            <a:srgbClr val="5B6C8F"/>
                          </a:solidFill>
                        </a:rPr>
                        <a:t>EMNLP-IJCNLP (2019)</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c>
                  <a:txBody>
                    <a:bodyPr/>
                    <a:lstStyle/>
                    <a:p>
                      <a:pPr indent="0" marL="0">
                        <a:buNone/>
                      </a:pPr>
                      <a:r>
                        <a:rPr lang="en-US" sz="1100" dirty="0">
                          <a:solidFill>
                            <a:srgbClr val="10212B"/>
                          </a:solidFill>
                        </a:rPr>
                        <a:t>N. Reimers, I. Gurevych</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c>
                  <a:txBody>
                    <a:bodyPr/>
                    <a:lstStyle/>
                    <a:p>
                      <a:pPr indent="0" marL="0">
                        <a:buNone/>
                      </a:pPr>
                      <a:r>
                        <a:rPr lang="en-US" sz="1100" dirty="0">
                          <a:solidFill>
                            <a:srgbClr val="10212B"/>
                          </a:solidFill>
                        </a:rPr>
                        <a:t>Turns sentences into numbers so texts with similar meaning can be matched (dense retrieval)</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B3C49"/>
                          </a:solidFill>
                        </a:rPr>
                        <a:t>C-Pack: Packed resources for general Chinese embeddings</a:t>
                      </a:r>
                      <a:endParaRPr lang="en-US" sz="1100" dirty="0"/>
                    </a:p>
                    <a:p>
                      <a:pPr indent="0" marL="0">
                        <a:buNone/>
                      </a:pPr>
                      <a:r>
                        <a:rPr lang="en-US" sz="1100" i="1" dirty="0">
                          <a:solidFill>
                            <a:srgbClr val="5B6C8F"/>
                          </a:solidFill>
                        </a:rPr>
                        <a:t>ACM SIGIR (2024)</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c>
                  <a:txBody>
                    <a:bodyPr/>
                    <a:lstStyle/>
                    <a:p>
                      <a:pPr indent="0" marL="0">
                        <a:buNone/>
                      </a:pPr>
                      <a:r>
                        <a:rPr lang="en-US" sz="1100" dirty="0">
                          <a:solidFill>
                            <a:srgbClr val="10212B"/>
                          </a:solidFill>
                        </a:rPr>
                        <a:t>S. Xiao et al.</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c>
                  <a:txBody>
                    <a:bodyPr/>
                    <a:lstStyle/>
                    <a:p>
                      <a:pPr indent="0" marL="0">
                        <a:buNone/>
                      </a:pPr>
                      <a:r>
                        <a:rPr lang="en-US" sz="1100" dirty="0">
                          <a:solidFill>
                            <a:srgbClr val="10212B"/>
                          </a:solidFill>
                        </a:rPr>
                        <a:t>Text embedding models (the BGE family) used for meaning-based search</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r>
              <a:tr h="457200">
                <a:tc>
                  <a:txBody>
                    <a:bodyPr/>
                    <a:lstStyle/>
                    <a:p>
                      <a:pPr indent="0" marL="0">
                        <a:buNone/>
                      </a:pPr>
                      <a:r>
                        <a:rPr lang="en-US" sz="1100" b="1" dirty="0">
                          <a:solidFill>
                            <a:srgbClr val="0B3C49"/>
                          </a:solidFill>
                        </a:rPr>
                        <a:t>Reciprocal rank fusion outperforms Condorcet and individual rank learning methods</a:t>
                      </a:r>
                      <a:endParaRPr lang="en-US" sz="1100" dirty="0"/>
                    </a:p>
                    <a:p>
                      <a:pPr indent="0" marL="0">
                        <a:buNone/>
                      </a:pPr>
                      <a:r>
                        <a:rPr lang="en-US" sz="1100" i="1" dirty="0">
                          <a:solidFill>
                            <a:srgbClr val="5B6C8F"/>
                          </a:solidFill>
                        </a:rPr>
                        <a:t>ACM SIGIR (2009)</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c>
                  <a:txBody>
                    <a:bodyPr/>
                    <a:lstStyle/>
                    <a:p>
                      <a:pPr indent="0" marL="0">
                        <a:buNone/>
                      </a:pPr>
                      <a:r>
                        <a:rPr lang="en-US" sz="1100" dirty="0">
                          <a:solidFill>
                            <a:srgbClr val="10212B"/>
                          </a:solidFill>
                        </a:rPr>
                        <a:t>G. V. Cormack, C. L. A. Clarke, S. Büttcher</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c>
                  <a:txBody>
                    <a:bodyPr/>
                    <a:lstStyle/>
                    <a:p>
                      <a:pPr indent="0" marL="0">
                        <a:buNone/>
                      </a:pPr>
                      <a:r>
                        <a:rPr lang="en-US" sz="1100" dirty="0">
                          <a:solidFill>
                            <a:srgbClr val="10212B"/>
                          </a:solidFill>
                        </a:rPr>
                        <a:t>RRF: combines several ranked result lists into one better list</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B3C49"/>
                          </a:solidFill>
                        </a:rPr>
                        <a:t>SciMON: Scientific inspiration machines optimized for novelty</a:t>
                      </a:r>
                      <a:endParaRPr lang="en-US" sz="1100" dirty="0"/>
                    </a:p>
                    <a:p>
                      <a:pPr indent="0" marL="0">
                        <a:buNone/>
                      </a:pPr>
                      <a:r>
                        <a:rPr lang="en-US" sz="1100" i="1" dirty="0">
                          <a:solidFill>
                            <a:srgbClr val="5B6C8F"/>
                          </a:solidFill>
                        </a:rPr>
                        <a:t>ACL (2024)</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c>
                  <a:txBody>
                    <a:bodyPr/>
                    <a:lstStyle/>
                    <a:p>
                      <a:pPr indent="0" marL="0">
                        <a:buNone/>
                      </a:pPr>
                      <a:r>
                        <a:rPr lang="en-US" sz="1100" dirty="0">
                          <a:solidFill>
                            <a:srgbClr val="10212B"/>
                          </a:solidFill>
                        </a:rPr>
                        <a:t>Q. Wang, D. Downey, H. Ji, T. Hope</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c>
                  <a:txBody>
                    <a:bodyPr/>
                    <a:lstStyle/>
                    <a:p>
                      <a:pPr indent="0" marL="0">
                        <a:buNone/>
                      </a:pPr>
                      <a:r>
                        <a:rPr lang="en-US" sz="1100" dirty="0">
                          <a:solidFill>
                            <a:srgbClr val="10212B"/>
                          </a:solidFill>
                        </a:rPr>
                        <a:t>Finds inspiration in earlier papers, then improves AI-made ideas step by step to make them more novel</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r>
              <a:tr h="457200">
                <a:tc>
                  <a:txBody>
                    <a:bodyPr/>
                    <a:lstStyle/>
                    <a:p>
                      <a:pPr indent="0" marL="0">
                        <a:buNone/>
                      </a:pPr>
                      <a:r>
                        <a:rPr lang="en-US" sz="1100" b="1" dirty="0">
                          <a:solidFill>
                            <a:srgbClr val="0B3C49"/>
                          </a:solidFill>
                        </a:rPr>
                        <a:t>LitLLM: A toolkit for scientific literature review</a:t>
                      </a:r>
                      <a:endParaRPr lang="en-US" sz="1100" dirty="0"/>
                    </a:p>
                    <a:p>
                      <a:pPr indent="0" marL="0">
                        <a:buNone/>
                      </a:pPr>
                      <a:r>
                        <a:rPr lang="en-US" sz="1100" i="1" dirty="0">
                          <a:solidFill>
                            <a:srgbClr val="5B6C8F"/>
                          </a:solidFill>
                        </a:rPr>
                        <a:t>arXiv (2024)</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c>
                  <a:txBody>
                    <a:bodyPr/>
                    <a:lstStyle/>
                    <a:p>
                      <a:pPr indent="0" marL="0">
                        <a:buNone/>
                      </a:pPr>
                      <a:r>
                        <a:rPr lang="en-US" sz="1100" dirty="0">
                          <a:solidFill>
                            <a:srgbClr val="10212B"/>
                          </a:solidFill>
                        </a:rPr>
                        <a:t>S. Agarwal et al.</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c>
                  <a:txBody>
                    <a:bodyPr/>
                    <a:lstStyle/>
                    <a:p>
                      <a:pPr indent="0" marL="0">
                        <a:buNone/>
                      </a:pPr>
                      <a:r>
                        <a:rPr lang="en-US" sz="1100" dirty="0">
                          <a:solidFill>
                            <a:srgbClr val="10212B"/>
                          </a:solidFill>
                        </a:rPr>
                        <a:t>AI writes literature reviews using search plus re-ranking, which reduces made-up facts</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B3C49"/>
                          </a:solidFill>
                        </a:rPr>
                        <a:t>Automated literature research and review-generation method based on LLMs</a:t>
                      </a:r>
                      <a:endParaRPr lang="en-US" sz="1100" dirty="0"/>
                    </a:p>
                    <a:p>
                      <a:pPr indent="0" marL="0">
                        <a:buNone/>
                      </a:pPr>
                      <a:r>
                        <a:rPr lang="en-US" sz="1100" i="1" dirty="0">
                          <a:solidFill>
                            <a:srgbClr val="5B6C8F"/>
                          </a:solidFill>
                        </a:rPr>
                        <a:t>National Science Review (2025)</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c>
                  <a:txBody>
                    <a:bodyPr/>
                    <a:lstStyle/>
                    <a:p>
                      <a:pPr indent="0" marL="0">
                        <a:buNone/>
                      </a:pPr>
                      <a:r>
                        <a:rPr lang="en-US" sz="1100" dirty="0">
                          <a:solidFill>
                            <a:srgbClr val="10212B"/>
                          </a:solidFill>
                        </a:rPr>
                        <a:t>S. Wu et al.</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c>
                  <a:txBody>
                    <a:bodyPr/>
                    <a:lstStyle/>
                    <a:p>
                      <a:pPr indent="0" marL="0">
                        <a:buNone/>
                      </a:pPr>
                      <a:r>
                        <a:rPr lang="en-US" sz="1100" dirty="0">
                          <a:solidFill>
                            <a:srgbClr val="10212B"/>
                          </a:solidFill>
                        </a:rPr>
                        <a:t>AI-based automatic review writing, with a tested way to evaluate the reviews</a:t>
                      </a:r>
                      <a:endParaRPr lang="en-US" sz="1100" dirty="0"/>
                    </a:p>
                  </a:txBody>
                  <a:tcPr marL="91440" marR="91440" marT="18288" marB="18288" anchor="ctr">
                    <a:lnL w="6350" cap="flat" cmpd="sng" algn="ctr">
                      <a:solidFill>
                        <a:srgbClr val="D5E1E1"/>
                      </a:solidFill>
                      <a:prstDash val="solid"/>
                      <a:round/>
                      <a:headEnd type="none" w="med" len="med"/>
                      <a:tailEnd type="none" w="med" len="med"/>
                    </a:lnL>
                    <a:lnR w="6350" cap="flat" cmpd="sng" algn="ctr">
                      <a:solidFill>
                        <a:srgbClr val="D5E1E1"/>
                      </a:solidFill>
                      <a:prstDash val="solid"/>
                      <a:round/>
                      <a:headEnd type="none" w="med" len="med"/>
                      <a:tailEnd type="none" w="med" len="med"/>
                    </a:lnR>
                    <a:lnT w="6350" cap="flat" cmpd="sng" algn="ctr">
                      <a:solidFill>
                        <a:srgbClr val="D5E1E1"/>
                      </a:solidFill>
                      <a:prstDash val="solid"/>
                      <a:round/>
                      <a:headEnd type="none" w="med" len="med"/>
                      <a:tailEnd type="none" w="med" len="med"/>
                    </a:lnT>
                    <a:lnB w="6350" cap="flat" cmpd="sng" algn="ctr">
                      <a:solidFill>
                        <a:srgbClr val="D5E1E1"/>
                      </a:solidFill>
                      <a:prstDash val="solid"/>
                      <a:round/>
                      <a:headEnd type="none" w="med" len="med"/>
                      <a:tailEnd type="none" w="med" len="med"/>
                    </a:lnB>
                    <a:solidFill>
                      <a:srgbClr val="EEF4F4"/>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Research Gap &amp; Limitations</a:t>
            </a:r>
            <a:endParaRPr lang="en-US" sz="3400" dirty="0"/>
          </a:p>
        </p:txBody>
      </p:sp>
      <p:sp>
        <p:nvSpPr>
          <p:cNvPr id="3" name="Research gap panel"/>
          <p:cNvSpPr/>
          <p:nvPr/>
        </p:nvSpPr>
        <p:spPr>
          <a:xfrm>
            <a:off x="548640" y="1371600"/>
            <a:ext cx="5120640" cy="4846320"/>
          </a:xfrm>
          <a:prstGeom prst="roundRect">
            <a:avLst>
              <a:gd name="adj" fmla="val 2264"/>
            </a:avLst>
          </a:prstGeom>
          <a:solidFill>
            <a:schemeClr val="tx2"/>
          </a:solidFill>
          <a:ln/>
        </p:spPr>
      </p:sp>
      <p:sp>
        <p:nvSpPr>
          <p:cNvPr id="4" name="Gap heading"/>
          <p:cNvSpPr txBox="1"/>
          <p:nvPr/>
        </p:nvSpPr>
        <p:spPr>
          <a:xfrm>
            <a:off x="868680" y="1600200"/>
            <a:ext cx="4480560" cy="457200"/>
          </a:xfrm>
          <a:prstGeom prst="rect">
            <a:avLst/>
          </a:prstGeom>
          <a:noFill/>
          <a:ln/>
        </p:spPr>
        <p:txBody>
          <a:bodyPr wrap="square" lIns="0" tIns="0" rIns="0" bIns="0" rtlCol="0" anchor="ctr"/>
          <a:lstStyle/>
          <a:p>
            <a:pPr indent="0" marL="0">
              <a:buNone/>
            </a:pPr>
            <a:r>
              <a:rPr lang="en-US" sz="2200" b="1" dirty="0">
                <a:solidFill>
                  <a:schemeClr val="accent3"/>
                </a:solidFill>
              </a:rPr>
              <a:t>Research gap</a:t>
            </a:r>
            <a:endParaRPr lang="en-US" sz="2200" dirty="0"/>
          </a:p>
        </p:txBody>
      </p:sp>
      <p:sp>
        <p:nvSpPr>
          <p:cNvPr id="5" name="Gap intro"/>
          <p:cNvSpPr txBox="1"/>
          <p:nvPr/>
        </p:nvSpPr>
        <p:spPr>
          <a:xfrm>
            <a:off x="868680" y="2148840"/>
            <a:ext cx="4480560" cy="1005840"/>
          </a:xfrm>
          <a:prstGeom prst="rect">
            <a:avLst/>
          </a:prstGeom>
          <a:noFill/>
          <a:ln/>
        </p:spPr>
        <p:txBody>
          <a:bodyPr wrap="square" lIns="0" tIns="0" rIns="0" bIns="0" rtlCol="0" anchor="t"/>
          <a:lstStyle/>
          <a:p>
            <a:pPr indent="0" marL="0">
              <a:buNone/>
            </a:pPr>
            <a:r>
              <a:rPr lang="en-US" sz="1500" dirty="0">
                <a:solidFill>
                  <a:schemeClr val="bg1"/>
                </a:solidFill>
              </a:rPr>
              <a:t>Tools like SciMON, LitLLM and Wu et al.’s method judge the text or ideas they produce. Three questions about what goes in are still open:</a:t>
            </a:r>
            <a:endParaRPr lang="en-US" sz="1500" dirty="0"/>
          </a:p>
        </p:txBody>
      </p:sp>
      <p:sp>
        <p:nvSpPr>
          <p:cNvPr id="6" name="Gap badge 1"/>
          <p:cNvSpPr txBox="1"/>
          <p:nvPr/>
        </p:nvSpPr>
        <p:spPr>
          <a:xfrm>
            <a:off x="868680" y="3291840"/>
            <a:ext cx="420624" cy="420624"/>
          </a:xfrm>
          <a:prstGeom prst="ellipse">
            <a:avLst/>
          </a:prstGeom>
          <a:solidFill>
            <a:srgbClr val="F2B134"/>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Gap item 1"/>
          <p:cNvSpPr txBox="1"/>
          <p:nvPr/>
        </p:nvSpPr>
        <p:spPr>
          <a:xfrm>
            <a:off x="1463040" y="3200400"/>
            <a:ext cx="3977640" cy="822960"/>
          </a:xfrm>
          <a:prstGeom prst="rect">
            <a:avLst/>
          </a:prstGeom>
          <a:noFill/>
          <a:ln/>
        </p:spPr>
        <p:txBody>
          <a:bodyPr wrap="square" lIns="0" tIns="0" rIns="0" bIns="0" rtlCol="0" anchor="ctr"/>
          <a:lstStyle/>
          <a:p>
            <a:pPr indent="0" marL="0">
              <a:buNone/>
            </a:pPr>
            <a:r>
              <a:rPr lang="en-US" sz="1600" b="1" dirty="0">
                <a:solidFill>
                  <a:schemeClr val="bg1"/>
                </a:solidFill>
              </a:rPr>
              <a:t>Quality of the paper collection</a:t>
            </a:r>
            <a:endParaRPr lang="en-US" sz="1600" dirty="0"/>
          </a:p>
          <a:p>
            <a:pPr indent="0" marL="0">
              <a:buNone/>
            </a:pPr>
            <a:r>
              <a:rPr lang="en-US" sz="1400" dirty="0">
                <a:solidFill>
                  <a:schemeClr val="bg1"/>
                </a:solidFill>
              </a:rPr>
              <a:t>Are the papers really about the topic?</a:t>
            </a:r>
            <a:endParaRPr lang="en-US" sz="1600" dirty="0"/>
          </a:p>
        </p:txBody>
      </p:sp>
      <p:sp>
        <p:nvSpPr>
          <p:cNvPr id="8" name="Gap badge 2"/>
          <p:cNvSpPr txBox="1"/>
          <p:nvPr/>
        </p:nvSpPr>
        <p:spPr>
          <a:xfrm>
            <a:off x="868680" y="4279392"/>
            <a:ext cx="420624" cy="420624"/>
          </a:xfrm>
          <a:prstGeom prst="ellipse">
            <a:avLst/>
          </a:prstGeom>
          <a:solidFill>
            <a:srgbClr val="F2B134"/>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Gap item 2"/>
          <p:cNvSpPr txBox="1"/>
          <p:nvPr/>
        </p:nvSpPr>
        <p:spPr>
          <a:xfrm>
            <a:off x="1463040" y="4187952"/>
            <a:ext cx="3977640" cy="822960"/>
          </a:xfrm>
          <a:prstGeom prst="rect">
            <a:avLst/>
          </a:prstGeom>
          <a:noFill/>
          <a:ln/>
        </p:spPr>
        <p:txBody>
          <a:bodyPr wrap="square" lIns="0" tIns="0" rIns="0" bIns="0" rtlCol="0" anchor="ctr"/>
          <a:lstStyle/>
          <a:p>
            <a:pPr indent="0" marL="0">
              <a:buNone/>
            </a:pPr>
            <a:r>
              <a:rPr lang="en-US" sz="1600" b="1" dirty="0">
                <a:solidFill>
                  <a:schemeClr val="bg1"/>
                </a:solidFill>
              </a:rPr>
              <a:t>Proof for each claim</a:t>
            </a:r>
            <a:endParaRPr lang="en-US" sz="1600" dirty="0"/>
          </a:p>
          <a:p>
            <a:pPr indent="0" marL="0">
              <a:buNone/>
            </a:pPr>
            <a:r>
              <a:rPr lang="en-US" sz="1400" dirty="0">
                <a:solidFill>
                  <a:schemeClr val="bg1"/>
                </a:solidFill>
              </a:rPr>
              <a:t>Can every claim be traced to its source text?</a:t>
            </a:r>
            <a:endParaRPr lang="en-US" sz="1600" dirty="0"/>
          </a:p>
        </p:txBody>
      </p:sp>
      <p:sp>
        <p:nvSpPr>
          <p:cNvPr id="10" name="Gap badge 3"/>
          <p:cNvSpPr txBox="1"/>
          <p:nvPr/>
        </p:nvSpPr>
        <p:spPr>
          <a:xfrm>
            <a:off x="868680" y="5266944"/>
            <a:ext cx="420624" cy="420624"/>
          </a:xfrm>
          <a:prstGeom prst="ellipse">
            <a:avLst/>
          </a:prstGeom>
          <a:solidFill>
            <a:srgbClr val="F2B134"/>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1" name="Gap item 3"/>
          <p:cNvSpPr txBox="1"/>
          <p:nvPr/>
        </p:nvSpPr>
        <p:spPr>
          <a:xfrm>
            <a:off x="1463040" y="5175504"/>
            <a:ext cx="3977640" cy="822960"/>
          </a:xfrm>
          <a:prstGeom prst="rect">
            <a:avLst/>
          </a:prstGeom>
          <a:noFill/>
          <a:ln/>
        </p:spPr>
        <p:txBody>
          <a:bodyPr wrap="square" lIns="0" tIns="0" rIns="0" bIns="0" rtlCol="0" anchor="ctr"/>
          <a:lstStyle/>
          <a:p>
            <a:pPr indent="0" marL="0">
              <a:buNone/>
            </a:pPr>
            <a:r>
              <a:rPr lang="en-US" sz="1600" b="1" dirty="0">
                <a:solidFill>
                  <a:schemeClr val="bg1"/>
                </a:solidFill>
              </a:rPr>
              <a:t>The scoring method</a:t>
            </a:r>
            <a:endParaRPr lang="en-US" sz="1600" dirty="0"/>
          </a:p>
          <a:p>
            <a:pPr indent="0" marL="0">
              <a:buNone/>
            </a:pPr>
            <a:r>
              <a:rPr lang="en-US" sz="1400" dirty="0">
                <a:solidFill>
                  <a:schemeClr val="bg1"/>
                </a:solidFill>
              </a:rPr>
              <a:t>Does the way we score accuracy change the result?</a:t>
            </a:r>
            <a:endParaRPr lang="en-US" sz="1600" dirty="0"/>
          </a:p>
        </p:txBody>
      </p:sp>
      <p:sp>
        <p:nvSpPr>
          <p:cNvPr id="12" name="Limitations panel"/>
          <p:cNvSpPr/>
          <p:nvPr/>
        </p:nvSpPr>
        <p:spPr>
          <a:xfrm>
            <a:off x="5852160" y="1371600"/>
            <a:ext cx="5760720" cy="4846320"/>
          </a:xfrm>
          <a:prstGeom prst="roundRect">
            <a:avLst>
              <a:gd name="adj" fmla="val 2264"/>
            </a:avLst>
          </a:prstGeom>
          <a:solidFill>
            <a:schemeClr val="bg2"/>
          </a:solidFill>
          <a:ln/>
        </p:spPr>
      </p:sp>
      <p:sp>
        <p:nvSpPr>
          <p:cNvPr id="13" name="Limitations heading"/>
          <p:cNvSpPr txBox="1"/>
          <p:nvPr/>
        </p:nvSpPr>
        <p:spPr>
          <a:xfrm>
            <a:off x="6172200" y="1600200"/>
            <a:ext cx="5120640" cy="457200"/>
          </a:xfrm>
          <a:prstGeom prst="rect">
            <a:avLst/>
          </a:prstGeom>
          <a:noFill/>
          <a:ln/>
        </p:spPr>
        <p:txBody>
          <a:bodyPr wrap="square" lIns="0" tIns="0" rIns="0" bIns="0" rtlCol="0" anchor="ctr"/>
          <a:lstStyle/>
          <a:p>
            <a:pPr indent="0" marL="0">
              <a:buNone/>
            </a:pPr>
            <a:r>
              <a:rPr lang="en-US" sz="2200" b="1" dirty="0">
                <a:solidFill>
                  <a:schemeClr val="tx2"/>
                </a:solidFill>
              </a:rPr>
              <a:t>Limitations of the study</a:t>
            </a:r>
            <a:endParaRPr lang="en-US" sz="2200" dirty="0"/>
          </a:p>
        </p:txBody>
      </p:sp>
      <p:sp>
        <p:nvSpPr>
          <p:cNvPr id="14" name="Limitations list"/>
          <p:cNvSpPr txBox="1"/>
          <p:nvPr/>
        </p:nvSpPr>
        <p:spPr>
          <a:xfrm>
            <a:off x="6172200" y="2148840"/>
            <a:ext cx="5166360" cy="402336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We did not rebuild the collection after finding the “GNN” problem; removing all 95 papers would also remove at least 4 genuine graph papers</a:t>
            </a:r>
            <a:endParaRPr lang="en-US" sz="1400" dirty="0"/>
          </a:p>
          <a:p>
            <a:pPr marL="203200" indent="-203200">
              <a:spcAft>
                <a:spcPts val="500"/>
              </a:spcAft>
              <a:buSzPct val="100000"/>
              <a:buChar char="•"/>
            </a:pPr>
            <a:r>
              <a:rPr lang="en-US" sz="1400" dirty="0">
                <a:solidFill>
                  <a:schemeClr val="tx1"/>
                </a:solidFill>
              </a:rPr>
              <a:t>Only 19 search tests, so the evidence is limited; the main score was chosen after seeing first results, and the test was rerun after an abstract error was fixed</a:t>
            </a:r>
            <a:endParaRPr lang="en-US" sz="1400" dirty="0"/>
          </a:p>
          <a:p>
            <a:pPr marL="203200" indent="-203200">
              <a:spcAft>
                <a:spcPts val="500"/>
              </a:spcAft>
              <a:buSzPct val="100000"/>
              <a:buChar char="•"/>
            </a:pPr>
            <a:r>
              <a:rPr lang="en-US" sz="1400" dirty="0">
                <a:solidFill>
                  <a:schemeClr val="tx1"/>
                </a:solidFill>
              </a:rPr>
              <a:t>641 cited references could not be matched to papers</a:t>
            </a:r>
            <a:endParaRPr lang="en-US" sz="1400" dirty="0"/>
          </a:p>
          <a:p>
            <a:pPr marL="203200" indent="-203200">
              <a:spcAft>
                <a:spcPts val="500"/>
              </a:spcAft>
              <a:buSzPct val="100000"/>
              <a:buChar char="•"/>
            </a:pPr>
            <a:r>
              <a:rPr lang="en-US" sz="1400" dirty="0">
                <a:solidFill>
                  <a:schemeClr val="tx1"/>
                </a:solidFill>
              </a:rPr>
              <a:t>Finding a quote in the abstract does not prove the claim is true; our check for made-up claims is an untested rule</a:t>
            </a:r>
            <a:endParaRPr lang="en-US" sz="1400" dirty="0"/>
          </a:p>
          <a:p>
            <a:pPr marL="203200" indent="-203200">
              <a:spcAft>
                <a:spcPts val="500"/>
              </a:spcAft>
              <a:buSzPct val="100000"/>
              <a:buChar char="•"/>
            </a:pPr>
            <a:r>
              <a:rPr lang="en-US" sz="1400" dirty="0">
                <a:solidFill>
                  <a:schemeClr val="tx1"/>
                </a:solidFill>
              </a:rPr>
              <a:t>Human check: 76 papers, labelled by one person, from a separate 100-paper run</a:t>
            </a:r>
            <a:endParaRPr lang="en-US" sz="1400" dirty="0"/>
          </a:p>
          <a:p>
            <a:pPr marL="203200" indent="-203200">
              <a:spcAft>
                <a:spcPts val="500"/>
              </a:spcAft>
              <a:buSzPct val="100000"/>
              <a:buChar char="•"/>
            </a:pPr>
            <a:r>
              <a:rPr lang="en-US" sz="1400" dirty="0">
                <a:solidFill>
                  <a:schemeClr val="tx1"/>
                </a:solidFill>
              </a:rPr>
              <a:t>The meaning-match cut-off was set using only 10 examples</a:t>
            </a:r>
            <a:endParaRPr lang="en-US" sz="1400" dirty="0"/>
          </a:p>
          <a:p>
            <a:pPr marL="203200" indent="-203200">
              <a:spcAft>
                <a:spcPts val="500"/>
              </a:spcAft>
              <a:buSzPct val="100000"/>
              <a:buChar char="•"/>
            </a:pPr>
            <a:r>
              <a:rPr lang="en-US" sz="1400" dirty="0">
                <a:solidFill>
                  <a:schemeClr val="tx1"/>
                </a:solidFill>
              </a:rPr>
              <a:t>The gap test had too little data, and no gap itself was tested</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Proposed Methodology</a:t>
            </a:r>
            <a:endParaRPr lang="en-US" sz="3400" dirty="0"/>
          </a:p>
        </p:txBody>
      </p:sp>
      <p:sp>
        <p:nvSpPr>
          <p:cNvPr id="3" name="Phase label 1"/>
          <p:cNvSpPr txBox="1"/>
          <p:nvPr/>
        </p:nvSpPr>
        <p:spPr>
          <a:xfrm>
            <a:off x="548640" y="11887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PHASE A  ·  BUILD AND CHECK THE PAPER COLLECTION (STEPS 1–5)</a:t>
            </a:r>
            <a:endParaRPr lang="en-US" sz="1200" dirty="0"/>
          </a:p>
        </p:txBody>
      </p:sp>
      <p:sp>
        <p:nvSpPr>
          <p:cNvPr id="4" name="Step box 1"/>
          <p:cNvSpPr/>
          <p:nvPr/>
        </p:nvSpPr>
        <p:spPr>
          <a:xfrm>
            <a:off x="548640" y="1499616"/>
            <a:ext cx="1920240" cy="640080"/>
          </a:xfrm>
          <a:prstGeom prst="roundRect">
            <a:avLst>
              <a:gd name="adj" fmla="val 14286"/>
            </a:avLst>
          </a:prstGeom>
          <a:solidFill>
            <a:srgbClr val="EEF4F4"/>
          </a:solidFill>
          <a:ln w="15875">
            <a:solidFill>
              <a:srgbClr val="8FB8B5"/>
            </a:solidFill>
            <a:prstDash val="solid"/>
          </a:ln>
        </p:spPr>
      </p:sp>
      <p:sp>
        <p:nvSpPr>
          <p:cNvPr id="5" name="Step number 1"/>
          <p:cNvSpPr txBox="1"/>
          <p:nvPr/>
        </p:nvSpPr>
        <p:spPr>
          <a:xfrm>
            <a:off x="658368" y="1645920"/>
            <a:ext cx="347472" cy="347472"/>
          </a:xfrm>
          <a:prstGeom prst="ellipse">
            <a:avLst/>
          </a:prstGeom>
          <a:solidFill>
            <a:srgbClr val="0B7A75"/>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Step label 1"/>
          <p:cNvSpPr txBox="1"/>
          <p:nvPr/>
        </p:nvSpPr>
        <p:spPr>
          <a:xfrm>
            <a:off x="1097280" y="1499616"/>
            <a:ext cx="1298448" cy="640080"/>
          </a:xfrm>
          <a:prstGeom prst="rect">
            <a:avLst/>
          </a:prstGeom>
          <a:noFill/>
          <a:ln/>
        </p:spPr>
        <p:txBody>
          <a:bodyPr wrap="square" lIns="0" tIns="0" rIns="0" bIns="0" rtlCol="0" anchor="ctr"/>
          <a:lstStyle/>
          <a:p>
            <a:pPr indent="0" marL="0">
              <a:buNone/>
            </a:pPr>
            <a:r>
              <a:rPr lang="en-US" sz="1300" b="1" dirty="0">
                <a:solidFill>
                  <a:schemeClr val="tx2"/>
                </a:solidFill>
              </a:rPr>
              <a:t>Set the topic</a:t>
            </a:r>
            <a:endParaRPr lang="en-US" sz="1300" dirty="0"/>
          </a:p>
        </p:txBody>
      </p:sp>
      <p:sp>
        <p:nvSpPr>
          <p:cNvPr id="7" name="Arrow"/>
          <p:cNvSpPr/>
          <p:nvPr/>
        </p:nvSpPr>
        <p:spPr>
          <a:xfrm>
            <a:off x="2514600" y="1819656"/>
            <a:ext cx="274320" cy="0"/>
          </a:xfrm>
          <a:prstGeom prst="line">
            <a:avLst/>
          </a:prstGeom>
          <a:noFill/>
          <a:ln w="19050">
            <a:solidFill>
              <a:schemeClr val="accent4"/>
            </a:solidFill>
            <a:prstDash val="solid"/>
            <a:tailEnd type="triangle"/>
          </a:ln>
        </p:spPr>
      </p:sp>
      <p:sp>
        <p:nvSpPr>
          <p:cNvPr id="8" name="Step box 2"/>
          <p:cNvSpPr/>
          <p:nvPr/>
        </p:nvSpPr>
        <p:spPr>
          <a:xfrm>
            <a:off x="2834640" y="1499616"/>
            <a:ext cx="1920240" cy="640080"/>
          </a:xfrm>
          <a:prstGeom prst="roundRect">
            <a:avLst>
              <a:gd name="adj" fmla="val 14286"/>
            </a:avLst>
          </a:prstGeom>
          <a:solidFill>
            <a:srgbClr val="EEF4F4"/>
          </a:solidFill>
          <a:ln w="15875">
            <a:solidFill>
              <a:srgbClr val="8FB8B5"/>
            </a:solidFill>
            <a:prstDash val="solid"/>
          </a:ln>
        </p:spPr>
      </p:sp>
      <p:sp>
        <p:nvSpPr>
          <p:cNvPr id="9" name="Step number 2"/>
          <p:cNvSpPr txBox="1"/>
          <p:nvPr/>
        </p:nvSpPr>
        <p:spPr>
          <a:xfrm>
            <a:off x="2944368" y="1645920"/>
            <a:ext cx="347472" cy="347472"/>
          </a:xfrm>
          <a:prstGeom prst="ellipse">
            <a:avLst/>
          </a:prstGeom>
          <a:solidFill>
            <a:srgbClr val="0B7A75"/>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label 2"/>
          <p:cNvSpPr txBox="1"/>
          <p:nvPr/>
        </p:nvSpPr>
        <p:spPr>
          <a:xfrm>
            <a:off x="3383280" y="1499616"/>
            <a:ext cx="1298448" cy="640080"/>
          </a:xfrm>
          <a:prstGeom prst="rect">
            <a:avLst/>
          </a:prstGeom>
          <a:noFill/>
          <a:ln/>
        </p:spPr>
        <p:txBody>
          <a:bodyPr wrap="square" lIns="0" tIns="0" rIns="0" bIns="0" rtlCol="0" anchor="ctr"/>
          <a:lstStyle/>
          <a:p>
            <a:pPr indent="0" marL="0">
              <a:buNone/>
            </a:pPr>
            <a:r>
              <a:rPr lang="en-US" sz="1300" b="1" dirty="0">
                <a:solidFill>
                  <a:schemeClr val="tx2"/>
                </a:solidFill>
              </a:rPr>
              <a:t>Collect papers</a:t>
            </a:r>
            <a:endParaRPr lang="en-US" sz="1300" dirty="0"/>
          </a:p>
        </p:txBody>
      </p:sp>
      <p:sp>
        <p:nvSpPr>
          <p:cNvPr id="11" name="Arrow"/>
          <p:cNvSpPr/>
          <p:nvPr/>
        </p:nvSpPr>
        <p:spPr>
          <a:xfrm>
            <a:off x="4800600" y="1819656"/>
            <a:ext cx="274320" cy="0"/>
          </a:xfrm>
          <a:prstGeom prst="line">
            <a:avLst/>
          </a:prstGeom>
          <a:noFill/>
          <a:ln w="19050">
            <a:solidFill>
              <a:schemeClr val="accent4"/>
            </a:solidFill>
            <a:prstDash val="solid"/>
            <a:tailEnd type="triangle"/>
          </a:ln>
        </p:spPr>
      </p:sp>
      <p:sp>
        <p:nvSpPr>
          <p:cNvPr id="12" name="Step box 3"/>
          <p:cNvSpPr/>
          <p:nvPr/>
        </p:nvSpPr>
        <p:spPr>
          <a:xfrm>
            <a:off x="5120640" y="1499616"/>
            <a:ext cx="1920240" cy="640080"/>
          </a:xfrm>
          <a:prstGeom prst="roundRect">
            <a:avLst>
              <a:gd name="adj" fmla="val 14286"/>
            </a:avLst>
          </a:prstGeom>
          <a:solidFill>
            <a:srgbClr val="EEF4F4"/>
          </a:solidFill>
          <a:ln w="15875">
            <a:solidFill>
              <a:srgbClr val="8FB8B5"/>
            </a:solidFill>
            <a:prstDash val="solid"/>
          </a:ln>
        </p:spPr>
      </p:sp>
      <p:sp>
        <p:nvSpPr>
          <p:cNvPr id="13" name="Step number 3"/>
          <p:cNvSpPr txBox="1"/>
          <p:nvPr/>
        </p:nvSpPr>
        <p:spPr>
          <a:xfrm>
            <a:off x="5230368" y="1645920"/>
            <a:ext cx="347472" cy="347472"/>
          </a:xfrm>
          <a:prstGeom prst="ellipse">
            <a:avLst/>
          </a:prstGeom>
          <a:solidFill>
            <a:srgbClr val="0B7A75"/>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Step label 3"/>
          <p:cNvSpPr txBox="1"/>
          <p:nvPr/>
        </p:nvSpPr>
        <p:spPr>
          <a:xfrm>
            <a:off x="5669280" y="1499616"/>
            <a:ext cx="1298448" cy="640080"/>
          </a:xfrm>
          <a:prstGeom prst="rect">
            <a:avLst/>
          </a:prstGeom>
          <a:noFill/>
          <a:ln/>
        </p:spPr>
        <p:txBody>
          <a:bodyPr wrap="square" lIns="0" tIns="0" rIns="0" bIns="0" rtlCol="0" anchor="ctr"/>
          <a:lstStyle/>
          <a:p>
            <a:pPr indent="0" marL="0">
              <a:buNone/>
            </a:pPr>
            <a:r>
              <a:rPr lang="en-US" sz="1300" b="1" dirty="0">
                <a:solidFill>
                  <a:schemeClr val="tx2"/>
                </a:solidFill>
              </a:rPr>
              <a:t>Rebuild abstracts</a:t>
            </a:r>
            <a:endParaRPr lang="en-US" sz="1300" dirty="0"/>
          </a:p>
        </p:txBody>
      </p:sp>
      <p:sp>
        <p:nvSpPr>
          <p:cNvPr id="15" name="Arrow"/>
          <p:cNvSpPr/>
          <p:nvPr/>
        </p:nvSpPr>
        <p:spPr>
          <a:xfrm>
            <a:off x="7086600" y="1819656"/>
            <a:ext cx="274320" cy="0"/>
          </a:xfrm>
          <a:prstGeom prst="line">
            <a:avLst/>
          </a:prstGeom>
          <a:noFill/>
          <a:ln w="19050">
            <a:solidFill>
              <a:schemeClr val="accent4"/>
            </a:solidFill>
            <a:prstDash val="solid"/>
            <a:tailEnd type="triangle"/>
          </a:ln>
        </p:spPr>
      </p:sp>
      <p:sp>
        <p:nvSpPr>
          <p:cNvPr id="16" name="Step box 4"/>
          <p:cNvSpPr/>
          <p:nvPr/>
        </p:nvSpPr>
        <p:spPr>
          <a:xfrm>
            <a:off x="7406640" y="1499616"/>
            <a:ext cx="1920240" cy="640080"/>
          </a:xfrm>
          <a:prstGeom prst="roundRect">
            <a:avLst>
              <a:gd name="adj" fmla="val 14286"/>
            </a:avLst>
          </a:prstGeom>
          <a:solidFill>
            <a:srgbClr val="EEF4F4"/>
          </a:solidFill>
          <a:ln w="15875">
            <a:solidFill>
              <a:srgbClr val="8FB8B5"/>
            </a:solidFill>
            <a:prstDash val="solid"/>
          </a:ln>
        </p:spPr>
      </p:sp>
      <p:sp>
        <p:nvSpPr>
          <p:cNvPr id="17" name="Step number 4"/>
          <p:cNvSpPr txBox="1"/>
          <p:nvPr/>
        </p:nvSpPr>
        <p:spPr>
          <a:xfrm>
            <a:off x="7516368" y="1645920"/>
            <a:ext cx="347472" cy="347472"/>
          </a:xfrm>
          <a:prstGeom prst="ellipse">
            <a:avLst/>
          </a:prstGeom>
          <a:solidFill>
            <a:srgbClr val="0B7A75"/>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Step label 4"/>
          <p:cNvSpPr txBox="1"/>
          <p:nvPr/>
        </p:nvSpPr>
        <p:spPr>
          <a:xfrm>
            <a:off x="7955280" y="1499616"/>
            <a:ext cx="1298448" cy="640080"/>
          </a:xfrm>
          <a:prstGeom prst="rect">
            <a:avLst/>
          </a:prstGeom>
          <a:noFill/>
          <a:ln/>
        </p:spPr>
        <p:txBody>
          <a:bodyPr wrap="square" lIns="0" tIns="0" rIns="0" bIns="0" rtlCol="0" anchor="ctr"/>
          <a:lstStyle/>
          <a:p>
            <a:pPr indent="0" marL="0">
              <a:buNone/>
            </a:pPr>
            <a:r>
              <a:rPr lang="en-US" sz="1300" b="1" dirty="0">
                <a:solidFill>
                  <a:schemeClr val="tx2"/>
                </a:solidFill>
              </a:rPr>
              <a:t>Filter &amp; remove copies</a:t>
            </a:r>
            <a:endParaRPr lang="en-US" sz="1300" dirty="0"/>
          </a:p>
        </p:txBody>
      </p:sp>
      <p:sp>
        <p:nvSpPr>
          <p:cNvPr id="19" name="Arrow"/>
          <p:cNvSpPr/>
          <p:nvPr/>
        </p:nvSpPr>
        <p:spPr>
          <a:xfrm>
            <a:off x="9372600" y="1819656"/>
            <a:ext cx="274320" cy="0"/>
          </a:xfrm>
          <a:prstGeom prst="line">
            <a:avLst/>
          </a:prstGeom>
          <a:noFill/>
          <a:ln w="19050">
            <a:solidFill>
              <a:schemeClr val="accent4"/>
            </a:solidFill>
            <a:prstDash val="solid"/>
            <a:tailEnd type="triangle"/>
          </a:ln>
        </p:spPr>
      </p:sp>
      <p:sp>
        <p:nvSpPr>
          <p:cNvPr id="20" name="Step box 5"/>
          <p:cNvSpPr/>
          <p:nvPr/>
        </p:nvSpPr>
        <p:spPr>
          <a:xfrm>
            <a:off x="9692640" y="1499616"/>
            <a:ext cx="1920240" cy="640080"/>
          </a:xfrm>
          <a:prstGeom prst="roundRect">
            <a:avLst>
              <a:gd name="adj" fmla="val 14286"/>
            </a:avLst>
          </a:prstGeom>
          <a:solidFill>
            <a:srgbClr val="EEF4F4"/>
          </a:solidFill>
          <a:ln w="15875">
            <a:solidFill>
              <a:srgbClr val="8FB8B5"/>
            </a:solidFill>
            <a:prstDash val="solid"/>
          </a:ln>
        </p:spPr>
      </p:sp>
      <p:sp>
        <p:nvSpPr>
          <p:cNvPr id="21" name="Step number 5"/>
          <p:cNvSpPr txBox="1"/>
          <p:nvPr/>
        </p:nvSpPr>
        <p:spPr>
          <a:xfrm>
            <a:off x="9802368" y="1645920"/>
            <a:ext cx="347472" cy="347472"/>
          </a:xfrm>
          <a:prstGeom prst="ellipse">
            <a:avLst/>
          </a:prstGeom>
          <a:solidFill>
            <a:srgbClr val="0B7A75"/>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Step label 5"/>
          <p:cNvSpPr txBox="1"/>
          <p:nvPr/>
        </p:nvSpPr>
        <p:spPr>
          <a:xfrm>
            <a:off x="10241280" y="1499616"/>
            <a:ext cx="1298448" cy="640080"/>
          </a:xfrm>
          <a:prstGeom prst="rect">
            <a:avLst/>
          </a:prstGeom>
          <a:noFill/>
          <a:ln/>
        </p:spPr>
        <p:txBody>
          <a:bodyPr wrap="square" lIns="0" tIns="0" rIns="0" bIns="0" rtlCol="0" anchor="ctr"/>
          <a:lstStyle/>
          <a:p>
            <a:pPr indent="0" marL="0">
              <a:buNone/>
            </a:pPr>
            <a:r>
              <a:rPr lang="en-US" sz="1300" b="1" dirty="0">
                <a:solidFill>
                  <a:schemeClr val="tx2"/>
                </a:solidFill>
              </a:rPr>
              <a:t>Check the collection</a:t>
            </a:r>
            <a:endParaRPr lang="en-US" sz="1300" dirty="0"/>
          </a:p>
        </p:txBody>
      </p:sp>
      <p:sp>
        <p:nvSpPr>
          <p:cNvPr id="23" name="Phase label 2"/>
          <p:cNvSpPr txBox="1"/>
          <p:nvPr/>
        </p:nvSpPr>
        <p:spPr>
          <a:xfrm>
            <a:off x="548640" y="219456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PHASE B  ·  SEARCH, EXTRACT AND ANALYSE (STEPS 6–10)</a:t>
            </a:r>
            <a:endParaRPr lang="en-US" sz="1200" dirty="0"/>
          </a:p>
        </p:txBody>
      </p:sp>
      <p:sp>
        <p:nvSpPr>
          <p:cNvPr id="24" name="Step box 6"/>
          <p:cNvSpPr/>
          <p:nvPr/>
        </p:nvSpPr>
        <p:spPr>
          <a:xfrm>
            <a:off x="548640" y="2505456"/>
            <a:ext cx="1920240" cy="640080"/>
          </a:xfrm>
          <a:prstGeom prst="roundRect">
            <a:avLst>
              <a:gd name="adj" fmla="val 14286"/>
            </a:avLst>
          </a:prstGeom>
          <a:solidFill>
            <a:srgbClr val="EEF4F4"/>
          </a:solidFill>
          <a:ln w="15875">
            <a:solidFill>
              <a:srgbClr val="8FB8B5"/>
            </a:solidFill>
            <a:prstDash val="solid"/>
          </a:ln>
        </p:spPr>
      </p:sp>
      <p:sp>
        <p:nvSpPr>
          <p:cNvPr id="25" name="Step number 6"/>
          <p:cNvSpPr txBox="1"/>
          <p:nvPr/>
        </p:nvSpPr>
        <p:spPr>
          <a:xfrm>
            <a:off x="658368" y="2651760"/>
            <a:ext cx="347472" cy="347472"/>
          </a:xfrm>
          <a:prstGeom prst="ellipse">
            <a:avLst/>
          </a:prstGeom>
          <a:solidFill>
            <a:srgbClr val="0B7A75"/>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6" name="Step label 6"/>
          <p:cNvSpPr txBox="1"/>
          <p:nvPr/>
        </p:nvSpPr>
        <p:spPr>
          <a:xfrm>
            <a:off x="1097280" y="2505456"/>
            <a:ext cx="1298448" cy="640080"/>
          </a:xfrm>
          <a:prstGeom prst="rect">
            <a:avLst/>
          </a:prstGeom>
          <a:noFill/>
          <a:ln/>
        </p:spPr>
        <p:txBody>
          <a:bodyPr wrap="square" lIns="0" tIns="0" rIns="0" bIns="0" rtlCol="0" anchor="ctr"/>
          <a:lstStyle/>
          <a:p>
            <a:pPr indent="0" marL="0">
              <a:buNone/>
            </a:pPr>
            <a:r>
              <a:rPr lang="en-US" sz="1300" b="1" dirty="0">
                <a:solidFill>
                  <a:schemeClr val="tx2"/>
                </a:solidFill>
              </a:rPr>
              <a:t>Test search methods</a:t>
            </a:r>
            <a:endParaRPr lang="en-US" sz="1300" dirty="0"/>
          </a:p>
        </p:txBody>
      </p:sp>
      <p:sp>
        <p:nvSpPr>
          <p:cNvPr id="27" name="Arrow"/>
          <p:cNvSpPr/>
          <p:nvPr/>
        </p:nvSpPr>
        <p:spPr>
          <a:xfrm>
            <a:off x="2514600" y="2825496"/>
            <a:ext cx="274320" cy="0"/>
          </a:xfrm>
          <a:prstGeom prst="line">
            <a:avLst/>
          </a:prstGeom>
          <a:noFill/>
          <a:ln w="19050">
            <a:solidFill>
              <a:schemeClr val="accent4"/>
            </a:solidFill>
            <a:prstDash val="solid"/>
            <a:tailEnd type="triangle"/>
          </a:ln>
        </p:spPr>
      </p:sp>
      <p:sp>
        <p:nvSpPr>
          <p:cNvPr id="28" name="Step box 7"/>
          <p:cNvSpPr/>
          <p:nvPr/>
        </p:nvSpPr>
        <p:spPr>
          <a:xfrm>
            <a:off x="2834640" y="2505456"/>
            <a:ext cx="1920240" cy="640080"/>
          </a:xfrm>
          <a:prstGeom prst="roundRect">
            <a:avLst>
              <a:gd name="adj" fmla="val 14286"/>
            </a:avLst>
          </a:prstGeom>
          <a:solidFill>
            <a:srgbClr val="EEF4F4"/>
          </a:solidFill>
          <a:ln w="15875">
            <a:solidFill>
              <a:srgbClr val="8FB8B5"/>
            </a:solidFill>
            <a:prstDash val="solid"/>
          </a:ln>
        </p:spPr>
      </p:sp>
      <p:sp>
        <p:nvSpPr>
          <p:cNvPr id="29" name="Step number 7"/>
          <p:cNvSpPr txBox="1"/>
          <p:nvPr/>
        </p:nvSpPr>
        <p:spPr>
          <a:xfrm>
            <a:off x="2944368" y="2651760"/>
            <a:ext cx="347472" cy="347472"/>
          </a:xfrm>
          <a:prstGeom prst="ellipse">
            <a:avLst/>
          </a:prstGeom>
          <a:solidFill>
            <a:srgbClr val="0B7A75"/>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0" name="Step label 7"/>
          <p:cNvSpPr txBox="1"/>
          <p:nvPr/>
        </p:nvSpPr>
        <p:spPr>
          <a:xfrm>
            <a:off x="3383280" y="2505456"/>
            <a:ext cx="1298448" cy="640080"/>
          </a:xfrm>
          <a:prstGeom prst="rect">
            <a:avLst/>
          </a:prstGeom>
          <a:noFill/>
          <a:ln/>
        </p:spPr>
        <p:txBody>
          <a:bodyPr wrap="square" lIns="0" tIns="0" rIns="0" bIns="0" rtlCol="0" anchor="ctr"/>
          <a:lstStyle/>
          <a:p>
            <a:pPr indent="0" marL="0">
              <a:buNone/>
            </a:pPr>
            <a:r>
              <a:rPr lang="en-US" sz="1300" b="1" dirty="0">
                <a:solidFill>
                  <a:schemeClr val="tx2"/>
                </a:solidFill>
              </a:rPr>
              <a:t>AI extracts facts</a:t>
            </a:r>
            <a:endParaRPr lang="en-US" sz="1300" dirty="0"/>
          </a:p>
        </p:txBody>
      </p:sp>
      <p:sp>
        <p:nvSpPr>
          <p:cNvPr id="31" name="Arrow"/>
          <p:cNvSpPr/>
          <p:nvPr/>
        </p:nvSpPr>
        <p:spPr>
          <a:xfrm>
            <a:off x="4800600" y="2825496"/>
            <a:ext cx="274320" cy="0"/>
          </a:xfrm>
          <a:prstGeom prst="line">
            <a:avLst/>
          </a:prstGeom>
          <a:noFill/>
          <a:ln w="19050">
            <a:solidFill>
              <a:schemeClr val="accent4"/>
            </a:solidFill>
            <a:prstDash val="solid"/>
            <a:tailEnd type="triangle"/>
          </a:ln>
        </p:spPr>
      </p:sp>
      <p:sp>
        <p:nvSpPr>
          <p:cNvPr id="32" name="Step box 8"/>
          <p:cNvSpPr/>
          <p:nvPr/>
        </p:nvSpPr>
        <p:spPr>
          <a:xfrm>
            <a:off x="5120640" y="2505456"/>
            <a:ext cx="1920240" cy="640080"/>
          </a:xfrm>
          <a:prstGeom prst="roundRect">
            <a:avLst>
              <a:gd name="adj" fmla="val 14286"/>
            </a:avLst>
          </a:prstGeom>
          <a:solidFill>
            <a:srgbClr val="EEF4F4"/>
          </a:solidFill>
          <a:ln w="15875">
            <a:solidFill>
              <a:srgbClr val="8FB8B5"/>
            </a:solidFill>
            <a:prstDash val="solid"/>
          </a:ln>
        </p:spPr>
      </p:sp>
      <p:sp>
        <p:nvSpPr>
          <p:cNvPr id="33" name="Step number 8"/>
          <p:cNvSpPr txBox="1"/>
          <p:nvPr/>
        </p:nvSpPr>
        <p:spPr>
          <a:xfrm>
            <a:off x="5230368" y="2651760"/>
            <a:ext cx="347472" cy="347472"/>
          </a:xfrm>
          <a:prstGeom prst="ellipse">
            <a:avLst/>
          </a:prstGeom>
          <a:solidFill>
            <a:srgbClr val="0B7A75"/>
          </a:solid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34" name="Step label 8"/>
          <p:cNvSpPr txBox="1"/>
          <p:nvPr/>
        </p:nvSpPr>
        <p:spPr>
          <a:xfrm>
            <a:off x="5669280" y="2505456"/>
            <a:ext cx="1298448" cy="640080"/>
          </a:xfrm>
          <a:prstGeom prst="rect">
            <a:avLst/>
          </a:prstGeom>
          <a:noFill/>
          <a:ln/>
        </p:spPr>
        <p:txBody>
          <a:bodyPr wrap="square" lIns="0" tIns="0" rIns="0" bIns="0" rtlCol="0" anchor="ctr"/>
          <a:lstStyle/>
          <a:p>
            <a:pPr indent="0" marL="0">
              <a:buNone/>
            </a:pPr>
            <a:r>
              <a:rPr lang="en-US" sz="1300" b="1" dirty="0">
                <a:solidFill>
                  <a:schemeClr val="tx2"/>
                </a:solidFill>
              </a:rPr>
              <a:t>Verify the proof</a:t>
            </a:r>
            <a:endParaRPr lang="en-US" sz="1300" dirty="0"/>
          </a:p>
        </p:txBody>
      </p:sp>
      <p:sp>
        <p:nvSpPr>
          <p:cNvPr id="35" name="Arrow"/>
          <p:cNvSpPr/>
          <p:nvPr/>
        </p:nvSpPr>
        <p:spPr>
          <a:xfrm>
            <a:off x="7086600" y="2825496"/>
            <a:ext cx="274320" cy="0"/>
          </a:xfrm>
          <a:prstGeom prst="line">
            <a:avLst/>
          </a:prstGeom>
          <a:noFill/>
          <a:ln w="19050">
            <a:solidFill>
              <a:schemeClr val="accent4"/>
            </a:solidFill>
            <a:prstDash val="solid"/>
            <a:tailEnd type="triangle"/>
          </a:ln>
        </p:spPr>
      </p:sp>
      <p:sp>
        <p:nvSpPr>
          <p:cNvPr id="36" name="Step box 9"/>
          <p:cNvSpPr/>
          <p:nvPr/>
        </p:nvSpPr>
        <p:spPr>
          <a:xfrm>
            <a:off x="7406640" y="2505456"/>
            <a:ext cx="1920240" cy="640080"/>
          </a:xfrm>
          <a:prstGeom prst="roundRect">
            <a:avLst>
              <a:gd name="adj" fmla="val 14286"/>
            </a:avLst>
          </a:prstGeom>
          <a:solidFill>
            <a:srgbClr val="EEF4F4"/>
          </a:solidFill>
          <a:ln w="15875">
            <a:solidFill>
              <a:srgbClr val="8FB8B5"/>
            </a:solidFill>
            <a:prstDash val="solid"/>
          </a:ln>
        </p:spPr>
      </p:sp>
      <p:sp>
        <p:nvSpPr>
          <p:cNvPr id="37" name="Step number 9"/>
          <p:cNvSpPr txBox="1"/>
          <p:nvPr/>
        </p:nvSpPr>
        <p:spPr>
          <a:xfrm>
            <a:off x="7516368" y="2651760"/>
            <a:ext cx="347472" cy="347472"/>
          </a:xfrm>
          <a:prstGeom prst="ellipse">
            <a:avLst/>
          </a:prstGeom>
          <a:solidFill>
            <a:srgbClr val="0B7A75"/>
          </a:solid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38" name="Step label 9"/>
          <p:cNvSpPr txBox="1"/>
          <p:nvPr/>
        </p:nvSpPr>
        <p:spPr>
          <a:xfrm>
            <a:off x="7955280" y="2505456"/>
            <a:ext cx="1298448" cy="640080"/>
          </a:xfrm>
          <a:prstGeom prst="rect">
            <a:avLst/>
          </a:prstGeom>
          <a:noFill/>
          <a:ln/>
        </p:spPr>
        <p:txBody>
          <a:bodyPr wrap="square" lIns="0" tIns="0" rIns="0" bIns="0" rtlCol="0" anchor="ctr"/>
          <a:lstStyle/>
          <a:p>
            <a:pPr indent="0" marL="0">
              <a:buNone/>
            </a:pPr>
            <a:r>
              <a:rPr lang="en-US" sz="1300" b="1" dirty="0">
                <a:solidFill>
                  <a:schemeClr val="tx2"/>
                </a:solidFill>
              </a:rPr>
              <a:t>Compare with humans</a:t>
            </a:r>
            <a:endParaRPr lang="en-US" sz="1300" dirty="0"/>
          </a:p>
        </p:txBody>
      </p:sp>
      <p:sp>
        <p:nvSpPr>
          <p:cNvPr id="39" name="Arrow"/>
          <p:cNvSpPr/>
          <p:nvPr/>
        </p:nvSpPr>
        <p:spPr>
          <a:xfrm>
            <a:off x="9372600" y="2825496"/>
            <a:ext cx="274320" cy="0"/>
          </a:xfrm>
          <a:prstGeom prst="line">
            <a:avLst/>
          </a:prstGeom>
          <a:noFill/>
          <a:ln w="19050">
            <a:solidFill>
              <a:schemeClr val="accent4"/>
            </a:solidFill>
            <a:prstDash val="solid"/>
            <a:tailEnd type="triangle"/>
          </a:ln>
        </p:spPr>
      </p:sp>
      <p:sp>
        <p:nvSpPr>
          <p:cNvPr id="40" name="Step box 10"/>
          <p:cNvSpPr/>
          <p:nvPr/>
        </p:nvSpPr>
        <p:spPr>
          <a:xfrm>
            <a:off x="9692640" y="2505456"/>
            <a:ext cx="1920240" cy="640080"/>
          </a:xfrm>
          <a:prstGeom prst="roundRect">
            <a:avLst>
              <a:gd name="adj" fmla="val 14286"/>
            </a:avLst>
          </a:prstGeom>
          <a:solidFill>
            <a:srgbClr val="FBE3DC"/>
          </a:solidFill>
          <a:ln w="15875">
            <a:solidFill>
              <a:srgbClr val="E4572E"/>
            </a:solidFill>
            <a:prstDash val="solid"/>
          </a:ln>
        </p:spPr>
      </p:sp>
      <p:sp>
        <p:nvSpPr>
          <p:cNvPr id="41" name="Step number 10"/>
          <p:cNvSpPr txBox="1"/>
          <p:nvPr/>
        </p:nvSpPr>
        <p:spPr>
          <a:xfrm>
            <a:off x="9802368" y="2651760"/>
            <a:ext cx="347472" cy="347472"/>
          </a:xfrm>
          <a:prstGeom prst="ellipse">
            <a:avLst/>
          </a:prstGeom>
          <a:solidFill>
            <a:srgbClr val="E4572E"/>
          </a:solid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42" name="Step label 10"/>
          <p:cNvSpPr txBox="1"/>
          <p:nvPr/>
        </p:nvSpPr>
        <p:spPr>
          <a:xfrm>
            <a:off x="10241280" y="2505456"/>
            <a:ext cx="1298448" cy="640080"/>
          </a:xfrm>
          <a:prstGeom prst="rect">
            <a:avLst/>
          </a:prstGeom>
          <a:noFill/>
          <a:ln/>
        </p:spPr>
        <p:txBody>
          <a:bodyPr wrap="square" lIns="0" tIns="0" rIns="0" bIns="0" rtlCol="0" anchor="ctr"/>
          <a:lstStyle/>
          <a:p>
            <a:pPr indent="0" marL="0">
              <a:buNone/>
            </a:pPr>
            <a:r>
              <a:rPr lang="en-US" sz="1300" b="1" dirty="0">
                <a:solidFill>
                  <a:schemeClr val="tx2"/>
                </a:solidFill>
              </a:rPr>
              <a:t>Look for gaps</a:t>
            </a:r>
            <a:endParaRPr lang="en-US" sz="1300" dirty="0"/>
          </a:p>
        </p:txBody>
      </p:sp>
      <p:sp>
        <p:nvSpPr>
          <p:cNvPr id="43" name="Datasets (the data used) card"/>
          <p:cNvSpPr/>
          <p:nvPr/>
        </p:nvSpPr>
        <p:spPr>
          <a:xfrm>
            <a:off x="548640" y="3520440"/>
            <a:ext cx="3566160" cy="2788920"/>
          </a:xfrm>
          <a:prstGeom prst="roundRect">
            <a:avLst>
              <a:gd name="adj" fmla="val 3934"/>
            </a:avLst>
          </a:prstGeom>
          <a:solidFill>
            <a:schemeClr val="bg2"/>
          </a:solidFill>
          <a:ln/>
        </p:spPr>
      </p:sp>
      <p:sp>
        <p:nvSpPr>
          <p:cNvPr id="44" name="Datasets (the data used) heading"/>
          <p:cNvSpPr txBox="1"/>
          <p:nvPr/>
        </p:nvSpPr>
        <p:spPr>
          <a:xfrm>
            <a:off x="777240" y="3611880"/>
            <a:ext cx="3200400" cy="411480"/>
          </a:xfrm>
          <a:prstGeom prst="rect">
            <a:avLst/>
          </a:prstGeom>
          <a:noFill/>
          <a:ln/>
        </p:spPr>
        <p:txBody>
          <a:bodyPr wrap="square" lIns="0" tIns="0" rIns="0" bIns="0" rtlCol="0" anchor="ctr"/>
          <a:lstStyle/>
          <a:p>
            <a:pPr indent="0" marL="0">
              <a:buNone/>
            </a:pPr>
            <a:r>
              <a:rPr lang="en-US" sz="1700" b="1" dirty="0">
                <a:solidFill>
                  <a:srgbClr val="0B7A75"/>
                </a:solidFill>
              </a:rPr>
              <a:t>Datasets (the data used)</a:t>
            </a:r>
            <a:endParaRPr lang="en-US" sz="1700" dirty="0"/>
          </a:p>
        </p:txBody>
      </p:sp>
      <p:sp>
        <p:nvSpPr>
          <p:cNvPr id="45" name="Datasets (the data used) list"/>
          <p:cNvSpPr txBox="1"/>
          <p:nvPr/>
        </p:nvSpPr>
        <p:spPr>
          <a:xfrm>
            <a:off x="777240" y="4069080"/>
            <a:ext cx="3200400" cy="2148840"/>
          </a:xfrm>
          <a:prstGeom prst="rect">
            <a:avLst/>
          </a:prstGeom>
          <a:noFill/>
          <a:ln/>
        </p:spPr>
        <p:txBody>
          <a:bodyPr wrap="square" lIns="0" tIns="0" rIns="0" bIns="0" rtlCol="0" anchor="t"/>
          <a:lstStyle/>
          <a:p>
            <a:pPr marL="203200" indent="-203200">
              <a:spcAft>
                <a:spcPts val="400"/>
              </a:spcAft>
              <a:buSzPct val="100000"/>
              <a:buChar char="•"/>
            </a:pPr>
            <a:r>
              <a:rPr lang="en-US" sz="1250" dirty="0">
                <a:solidFill>
                  <a:schemeClr val="tx1"/>
                </a:solidFill>
              </a:rPr>
              <a:t>OpenAlex: a free, open database of research papers (2015–2026)</a:t>
            </a:r>
            <a:endParaRPr lang="en-US" sz="1250" dirty="0"/>
          </a:p>
          <a:p>
            <a:pPr marL="203200" indent="-203200">
              <a:spcAft>
                <a:spcPts val="400"/>
              </a:spcAft>
              <a:buSzPct val="100000"/>
              <a:buChar char="•"/>
            </a:pPr>
            <a:r>
              <a:rPr lang="en-US" sz="1250" dirty="0">
                <a:solidFill>
                  <a:schemeClr val="tx1"/>
                </a:solidFill>
              </a:rPr>
              <a:t>Final collection: 1,951 papers, picked from 2,879 found</a:t>
            </a:r>
            <a:endParaRPr lang="en-US" sz="1250" dirty="0"/>
          </a:p>
          <a:p>
            <a:pPr marL="203200" indent="-203200">
              <a:spcAft>
                <a:spcPts val="400"/>
              </a:spcAft>
              <a:buSzPct val="100000"/>
              <a:buChar char="•"/>
            </a:pPr>
            <a:r>
              <a:rPr lang="en-US" sz="1250" dirty="0">
                <a:solidFill>
                  <a:schemeClr val="tx1"/>
                </a:solidFill>
              </a:rPr>
              <a:t>Search test: 2,072 papers and 19 questions built from survey papers</a:t>
            </a:r>
            <a:endParaRPr lang="en-US" sz="1250" dirty="0"/>
          </a:p>
          <a:p>
            <a:pPr marL="203200" indent="-203200">
              <a:spcAft>
                <a:spcPts val="400"/>
              </a:spcAft>
              <a:buSzPct val="100000"/>
              <a:buChar char="•"/>
            </a:pPr>
            <a:r>
              <a:rPr lang="en-US" sz="1250" dirty="0">
                <a:solidFill>
                  <a:schemeClr val="tx1"/>
                </a:solidFill>
              </a:rPr>
              <a:t>Human check: 76 papers labelled by hand</a:t>
            </a:r>
            <a:endParaRPr lang="en-US" sz="1250" dirty="0"/>
          </a:p>
        </p:txBody>
      </p:sp>
      <p:sp>
        <p:nvSpPr>
          <p:cNvPr id="46" name="Algorithms (the methods) card"/>
          <p:cNvSpPr/>
          <p:nvPr/>
        </p:nvSpPr>
        <p:spPr>
          <a:xfrm>
            <a:off x="4297680" y="3520440"/>
            <a:ext cx="3566160" cy="2788920"/>
          </a:xfrm>
          <a:prstGeom prst="roundRect">
            <a:avLst>
              <a:gd name="adj" fmla="val 3934"/>
            </a:avLst>
          </a:prstGeom>
          <a:solidFill>
            <a:schemeClr val="bg2"/>
          </a:solidFill>
          <a:ln/>
        </p:spPr>
      </p:sp>
      <p:sp>
        <p:nvSpPr>
          <p:cNvPr id="47" name="Algorithms (the methods) heading"/>
          <p:cNvSpPr txBox="1"/>
          <p:nvPr/>
        </p:nvSpPr>
        <p:spPr>
          <a:xfrm>
            <a:off x="4526280" y="3611880"/>
            <a:ext cx="3200400" cy="411480"/>
          </a:xfrm>
          <a:prstGeom prst="rect">
            <a:avLst/>
          </a:prstGeom>
          <a:noFill/>
          <a:ln/>
        </p:spPr>
        <p:txBody>
          <a:bodyPr wrap="square" lIns="0" tIns="0" rIns="0" bIns="0" rtlCol="0" anchor="ctr"/>
          <a:lstStyle/>
          <a:p>
            <a:pPr indent="0" marL="0">
              <a:buNone/>
            </a:pPr>
            <a:r>
              <a:rPr lang="en-US" sz="1700" b="1" dirty="0">
                <a:solidFill>
                  <a:srgbClr val="E4572E"/>
                </a:solidFill>
              </a:rPr>
              <a:t>Algorithms (the methods)</a:t>
            </a:r>
            <a:endParaRPr lang="en-US" sz="1700" dirty="0"/>
          </a:p>
        </p:txBody>
      </p:sp>
      <p:sp>
        <p:nvSpPr>
          <p:cNvPr id="48" name="Algorithms (the methods) list"/>
          <p:cNvSpPr txBox="1"/>
          <p:nvPr/>
        </p:nvSpPr>
        <p:spPr>
          <a:xfrm>
            <a:off x="4526280" y="4069080"/>
            <a:ext cx="3200400" cy="2148840"/>
          </a:xfrm>
          <a:prstGeom prst="rect">
            <a:avLst/>
          </a:prstGeom>
          <a:noFill/>
          <a:ln/>
        </p:spPr>
        <p:txBody>
          <a:bodyPr wrap="square" lIns="0" tIns="0" rIns="0" bIns="0" rtlCol="0" anchor="t"/>
          <a:lstStyle/>
          <a:p>
            <a:pPr marL="203200" indent="-203200">
              <a:spcAft>
                <a:spcPts val="400"/>
              </a:spcAft>
              <a:buSzPct val="100000"/>
              <a:buChar char="•"/>
            </a:pPr>
            <a:r>
              <a:rPr lang="en-US" sz="1250" dirty="0">
                <a:solidFill>
                  <a:schemeClr val="tx1"/>
                </a:solidFill>
              </a:rPr>
              <a:t>BM25: keyword-matching search</a:t>
            </a:r>
            <a:endParaRPr lang="en-US" sz="1250" dirty="0"/>
          </a:p>
          <a:p>
            <a:pPr marL="203200" indent="-203200">
              <a:spcAft>
                <a:spcPts val="400"/>
              </a:spcAft>
              <a:buSzPct val="100000"/>
              <a:buChar char="•"/>
            </a:pPr>
            <a:r>
              <a:rPr lang="en-US" sz="1250" dirty="0">
                <a:solidFill>
                  <a:schemeClr val="tx1"/>
                </a:solidFill>
              </a:rPr>
              <a:t>BGE: meaning-based search using text embeddings</a:t>
            </a:r>
            <a:endParaRPr lang="en-US" sz="1250" dirty="0"/>
          </a:p>
          <a:p>
            <a:pPr marL="203200" indent="-203200">
              <a:spcAft>
                <a:spcPts val="400"/>
              </a:spcAft>
              <a:buSzPct val="100000"/>
              <a:buChar char="•"/>
            </a:pPr>
            <a:r>
              <a:rPr lang="en-US" sz="1250" dirty="0">
                <a:solidFill>
                  <a:schemeClr val="tx1"/>
                </a:solidFill>
              </a:rPr>
              <a:t>RRF: merges both rankings into one list</a:t>
            </a:r>
            <a:endParaRPr lang="en-US" sz="1250" dirty="0"/>
          </a:p>
          <a:p>
            <a:pPr marL="203200" indent="-203200">
              <a:spcAft>
                <a:spcPts val="400"/>
              </a:spcAft>
              <a:buSzPct val="100000"/>
              <a:buChar char="•"/>
            </a:pPr>
            <a:r>
              <a:rPr lang="en-US" sz="1250" dirty="0">
                <a:solidFill>
                  <a:schemeClr val="tx1"/>
                </a:solidFill>
              </a:rPr>
              <a:t>Gemini 3.1 Flash-Lite: the AI that fills a fixed form from each abstract, quoting proof for every fact</a:t>
            </a:r>
            <a:endParaRPr lang="en-US" sz="1250" dirty="0"/>
          </a:p>
          <a:p>
            <a:pPr marL="203200" indent="-203200">
              <a:spcAft>
                <a:spcPts val="400"/>
              </a:spcAft>
              <a:buSzPct val="100000"/>
              <a:buChar char="•"/>
            </a:pPr>
            <a:r>
              <a:rPr lang="en-US" sz="1250" dirty="0">
                <a:solidFill>
                  <a:schemeClr val="tx1"/>
                </a:solidFill>
              </a:rPr>
              <a:t>Clustering: merges names that mean the same thing</a:t>
            </a:r>
            <a:endParaRPr lang="en-US" sz="1250" dirty="0"/>
          </a:p>
        </p:txBody>
      </p:sp>
      <p:sp>
        <p:nvSpPr>
          <p:cNvPr id="49" name="Evaluation (how we scored) card"/>
          <p:cNvSpPr/>
          <p:nvPr/>
        </p:nvSpPr>
        <p:spPr>
          <a:xfrm>
            <a:off x="8046720" y="3520440"/>
            <a:ext cx="3566160" cy="2788920"/>
          </a:xfrm>
          <a:prstGeom prst="roundRect">
            <a:avLst>
              <a:gd name="adj" fmla="val 3934"/>
            </a:avLst>
          </a:prstGeom>
          <a:solidFill>
            <a:schemeClr val="bg2"/>
          </a:solidFill>
          <a:ln/>
        </p:spPr>
      </p:sp>
      <p:sp>
        <p:nvSpPr>
          <p:cNvPr id="50" name="Evaluation (how we scored) heading"/>
          <p:cNvSpPr txBox="1"/>
          <p:nvPr/>
        </p:nvSpPr>
        <p:spPr>
          <a:xfrm>
            <a:off x="8275320" y="3611880"/>
            <a:ext cx="3200400" cy="411480"/>
          </a:xfrm>
          <a:prstGeom prst="rect">
            <a:avLst/>
          </a:prstGeom>
          <a:noFill/>
          <a:ln/>
        </p:spPr>
        <p:txBody>
          <a:bodyPr wrap="square" lIns="0" tIns="0" rIns="0" bIns="0" rtlCol="0" anchor="ctr"/>
          <a:lstStyle/>
          <a:p>
            <a:pPr indent="0" marL="0">
              <a:buNone/>
            </a:pPr>
            <a:r>
              <a:rPr lang="en-US" sz="1700" b="1" dirty="0">
                <a:solidFill>
                  <a:srgbClr val="5B6C8F"/>
                </a:solidFill>
              </a:rPr>
              <a:t>Evaluation (how we scored)</a:t>
            </a:r>
            <a:endParaRPr lang="en-US" sz="1700" dirty="0"/>
          </a:p>
        </p:txBody>
      </p:sp>
      <p:sp>
        <p:nvSpPr>
          <p:cNvPr id="51" name="Evaluation (how we scored) list"/>
          <p:cNvSpPr txBox="1"/>
          <p:nvPr/>
        </p:nvSpPr>
        <p:spPr>
          <a:xfrm>
            <a:off x="8275320" y="4069080"/>
            <a:ext cx="3200400" cy="2148840"/>
          </a:xfrm>
          <a:prstGeom prst="rect">
            <a:avLst/>
          </a:prstGeom>
          <a:noFill/>
          <a:ln/>
        </p:spPr>
        <p:txBody>
          <a:bodyPr wrap="square" lIns="0" tIns="0" rIns="0" bIns="0" rtlCol="0" anchor="t"/>
          <a:lstStyle/>
          <a:p>
            <a:pPr marL="203200" indent="-203200">
              <a:spcAft>
                <a:spcPts val="400"/>
              </a:spcAft>
              <a:buSzPct val="100000"/>
              <a:buChar char="•"/>
            </a:pPr>
            <a:r>
              <a:rPr lang="en-US" sz="1250" dirty="0">
                <a:solidFill>
                  <a:schemeClr val="tx1"/>
                </a:solidFill>
              </a:rPr>
              <a:t>Precision, recall, nDCG, MAP: how well relevant papers are found and ranked (higher is better)</a:t>
            </a:r>
            <a:endParaRPr lang="en-US" sz="1250" dirty="0"/>
          </a:p>
          <a:p>
            <a:pPr marL="203200" indent="-203200">
              <a:spcAft>
                <a:spcPts val="400"/>
              </a:spcAft>
              <a:buSzPct val="100000"/>
              <a:buChar char="•"/>
            </a:pPr>
            <a:r>
              <a:rPr lang="en-US" sz="1250" dirty="0">
                <a:solidFill>
                  <a:schemeClr val="tx1"/>
                </a:solidFill>
              </a:rPr>
              <a:t>Bootstrap ranges, Wilcoxon and Holm tests: is a difference real or just luck?</a:t>
            </a:r>
            <a:endParaRPr lang="en-US" sz="1250" dirty="0"/>
          </a:p>
          <a:p>
            <a:pPr marL="203200" indent="-203200">
              <a:spcAft>
                <a:spcPts val="400"/>
              </a:spcAft>
              <a:buSzPct val="100000"/>
              <a:buChar char="•"/>
            </a:pPr>
            <a:r>
              <a:rPr lang="en-US" sz="1250" dirty="0">
                <a:solidFill>
                  <a:schemeClr val="tx1"/>
                </a:solidFill>
              </a:rPr>
              <a:t>Exact vs meaning-based F1: AI vs human labels</a:t>
            </a:r>
            <a:endParaRPr lang="en-US" sz="1250" dirty="0"/>
          </a:p>
          <a:p>
            <a:pPr marL="203200" indent="-203200">
              <a:spcAft>
                <a:spcPts val="400"/>
              </a:spcAft>
              <a:buSzPct val="100000"/>
              <a:buChar char="•"/>
            </a:pPr>
            <a:r>
              <a:rPr lang="en-US" sz="1250" dirty="0">
                <a:solidFill>
                  <a:schemeClr val="tx1"/>
                </a:solidFill>
              </a:rPr>
              <a:t>Poisson test + Benjamini–Hochberg: finds unusually rare combinations while limiting false alarms</a:t>
            </a:r>
            <a:endParaRPr lang="en-US" sz="12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Results</a:t>
            </a:r>
            <a:endParaRPr lang="en-US" sz="3400" dirty="0"/>
          </a:p>
        </p:txBody>
      </p:sp>
      <p:graphicFrame>
        <p:nvGraphicFramePr>
          <p:cNvPr id="3" name="Chart 0" descr=""/>
          <p:cNvGraphicFramePr/>
          <p:nvPr/>
        </p:nvGraphicFramePr>
        <p:xfrm>
          <a:off x="548640" y="1188720"/>
          <a:ext cx="548640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26480" y="1188720"/>
          <a:ext cx="5486400" cy="3017520"/>
        </p:xfrm>
        <a:graphic xmlns:a="http://schemas.openxmlformats.org/drawingml/2006/main">
          <a:graphicData uri="http://schemas.openxmlformats.org/drawingml/2006/chart">
            <c:chart xmlns:c="http://schemas.openxmlformats.org/drawingml/2006/chart" r:id="rId2"/>
          </a:graphicData>
        </a:graphic>
      </p:graphicFrame>
      <p:sp>
        <p:nvSpPr>
          <p:cNvPr id="5" name="Chart reading guide"/>
          <p:cNvSpPr txBox="1"/>
          <p:nvPr/>
        </p:nvSpPr>
        <p:spPr>
          <a:xfrm>
            <a:off x="548640" y="4251960"/>
            <a:ext cx="11064240" cy="457200"/>
          </a:xfrm>
          <a:prstGeom prst="rect">
            <a:avLst/>
          </a:prstGeom>
          <a:noFill/>
          <a:ln/>
        </p:spPr>
        <p:txBody>
          <a:bodyPr wrap="square" lIns="0" tIns="0" rIns="0" bIns="0" rtlCol="0" anchor="ctr"/>
          <a:lstStyle/>
          <a:p>
            <a:pPr indent="0" marL="0">
              <a:buNone/>
            </a:pPr>
            <a:r>
              <a:rPr lang="en-US" sz="1200" i="1" dirty="0">
                <a:solidFill>
                  <a:schemeClr val="accent4"/>
                </a:solidFill>
              </a:rPr>
              <a:t>Left chart: “@10” means the top 10 results; nDCG and MAP reward putting relevant papers near the top. Right chart: a score of 1 means a perfect match with the human labels.</a:t>
            </a:r>
            <a:endParaRPr lang="en-US" sz="1200" dirty="0"/>
          </a:p>
        </p:txBody>
      </p:sp>
      <p:sp>
        <p:nvSpPr>
          <p:cNvPr id="6" name="Result stat card 1"/>
          <p:cNvSpPr/>
          <p:nvPr/>
        </p:nvSpPr>
        <p:spPr>
          <a:xfrm>
            <a:off x="548640" y="4800600"/>
            <a:ext cx="2628900" cy="1508760"/>
          </a:xfrm>
          <a:prstGeom prst="roundRect">
            <a:avLst>
              <a:gd name="adj" fmla="val 7273"/>
            </a:avLst>
          </a:prstGeom>
          <a:solidFill>
            <a:schemeClr val="bg2"/>
          </a:solidFill>
          <a:ln/>
        </p:spPr>
      </p:sp>
      <p:sp>
        <p:nvSpPr>
          <p:cNvPr id="7" name="Result value 1"/>
          <p:cNvSpPr txBox="1"/>
          <p:nvPr/>
        </p:nvSpPr>
        <p:spPr>
          <a:xfrm>
            <a:off x="731520" y="4846320"/>
            <a:ext cx="2286000" cy="50292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4.9%</a:t>
            </a:r>
            <a:endParaRPr lang="en-US" sz="2600" dirty="0"/>
          </a:p>
        </p:txBody>
      </p:sp>
      <p:sp>
        <p:nvSpPr>
          <p:cNvPr id="8" name="Result label 1"/>
          <p:cNvSpPr txBox="1"/>
          <p:nvPr/>
        </p:nvSpPr>
        <p:spPr>
          <a:xfrm>
            <a:off x="731520" y="5376672"/>
            <a:ext cx="2286000" cy="868680"/>
          </a:xfrm>
          <a:prstGeom prst="rect">
            <a:avLst/>
          </a:prstGeom>
          <a:noFill/>
          <a:ln/>
        </p:spPr>
        <p:txBody>
          <a:bodyPr wrap="square" lIns="0" tIns="0" rIns="0" bIns="0" rtlCol="0" anchor="t"/>
          <a:lstStyle/>
          <a:p>
            <a:pPr indent="0" marL="0">
              <a:buNone/>
            </a:pPr>
            <a:r>
              <a:rPr lang="en-US" sz="1200" dirty="0">
                <a:solidFill>
                  <a:schemeClr val="tx1"/>
                </a:solidFill>
              </a:rPr>
              <a:t>of papers (95) matched only the short word “GNN”; at least 68 meant something else</a:t>
            </a:r>
            <a:endParaRPr lang="en-US" sz="1200" dirty="0"/>
          </a:p>
        </p:txBody>
      </p:sp>
      <p:sp>
        <p:nvSpPr>
          <p:cNvPr id="9" name="Result stat card 2"/>
          <p:cNvSpPr/>
          <p:nvPr/>
        </p:nvSpPr>
        <p:spPr>
          <a:xfrm>
            <a:off x="3360420" y="4800600"/>
            <a:ext cx="2628900" cy="1508760"/>
          </a:xfrm>
          <a:prstGeom prst="roundRect">
            <a:avLst>
              <a:gd name="adj" fmla="val 7273"/>
            </a:avLst>
          </a:prstGeom>
          <a:solidFill>
            <a:schemeClr val="bg2"/>
          </a:solidFill>
          <a:ln/>
        </p:spPr>
      </p:sp>
      <p:sp>
        <p:nvSpPr>
          <p:cNvPr id="10" name="Result value 2"/>
          <p:cNvSpPr txBox="1"/>
          <p:nvPr/>
        </p:nvSpPr>
        <p:spPr>
          <a:xfrm>
            <a:off x="3543300" y="4846320"/>
            <a:ext cx="2286000" cy="50292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p = 0.41</a:t>
            </a:r>
            <a:endParaRPr lang="en-US" sz="2600" dirty="0"/>
          </a:p>
        </p:txBody>
      </p:sp>
      <p:sp>
        <p:nvSpPr>
          <p:cNvPr id="11" name="Result label 2"/>
          <p:cNvSpPr txBox="1"/>
          <p:nvPr/>
        </p:nvSpPr>
        <p:spPr>
          <a:xfrm>
            <a:off x="3543300" y="5376672"/>
            <a:ext cx="2286000" cy="868680"/>
          </a:xfrm>
          <a:prstGeom prst="rect">
            <a:avLst/>
          </a:prstGeom>
          <a:noFill/>
          <a:ln/>
        </p:spPr>
        <p:txBody>
          <a:bodyPr wrap="square" lIns="0" tIns="0" rIns="0" bIns="0" rtlCol="0" anchor="t"/>
          <a:lstStyle/>
          <a:p>
            <a:pPr indent="0" marL="0">
              <a:buNone/>
            </a:pPr>
            <a:r>
              <a:rPr lang="en-US" sz="1200" dirty="0">
                <a:solidFill>
                  <a:schemeClr val="tx1"/>
                </a:solidFill>
              </a:rPr>
              <a:t>No search method is clearly best (the usual cut-off for “real” is 0.05)</a:t>
            </a:r>
            <a:endParaRPr lang="en-US" sz="1200" dirty="0"/>
          </a:p>
        </p:txBody>
      </p:sp>
      <p:sp>
        <p:nvSpPr>
          <p:cNvPr id="12" name="Result stat card 3"/>
          <p:cNvSpPr/>
          <p:nvPr/>
        </p:nvSpPr>
        <p:spPr>
          <a:xfrm>
            <a:off x="6172200" y="4800600"/>
            <a:ext cx="2628900" cy="1508760"/>
          </a:xfrm>
          <a:prstGeom prst="roundRect">
            <a:avLst>
              <a:gd name="adj" fmla="val 7273"/>
            </a:avLst>
          </a:prstGeom>
          <a:solidFill>
            <a:schemeClr val="bg2"/>
          </a:solidFill>
          <a:ln/>
        </p:spPr>
      </p:sp>
      <p:sp>
        <p:nvSpPr>
          <p:cNvPr id="13" name="Result value 3"/>
          <p:cNvSpPr txBox="1"/>
          <p:nvPr/>
        </p:nvSpPr>
        <p:spPr>
          <a:xfrm>
            <a:off x="6355080" y="4846320"/>
            <a:ext cx="2286000" cy="50292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7,031</a:t>
            </a:r>
            <a:endParaRPr lang="en-US" sz="2600" dirty="0"/>
          </a:p>
        </p:txBody>
      </p:sp>
      <p:sp>
        <p:nvSpPr>
          <p:cNvPr id="14" name="Result label 3"/>
          <p:cNvSpPr txBox="1"/>
          <p:nvPr/>
        </p:nvSpPr>
        <p:spPr>
          <a:xfrm>
            <a:off x="6355080" y="5376672"/>
            <a:ext cx="2286000" cy="868680"/>
          </a:xfrm>
          <a:prstGeom prst="rect">
            <a:avLst/>
          </a:prstGeom>
          <a:noFill/>
          <a:ln/>
        </p:spPr>
        <p:txBody>
          <a:bodyPr wrap="square" lIns="0" tIns="0" rIns="0" bIns="0" rtlCol="0" anchor="t"/>
          <a:lstStyle/>
          <a:p>
            <a:pPr indent="0" marL="0">
              <a:buNone/>
            </a:pPr>
            <a:r>
              <a:rPr lang="en-US" sz="1200" dirty="0">
                <a:solidFill>
                  <a:schemeClr val="tx1"/>
                </a:solidFill>
              </a:rPr>
              <a:t>quoted facts, each found word-for-word in the abstracts</a:t>
            </a:r>
            <a:endParaRPr lang="en-US" sz="1200" dirty="0"/>
          </a:p>
        </p:txBody>
      </p:sp>
      <p:sp>
        <p:nvSpPr>
          <p:cNvPr id="15" name="Result stat card 4"/>
          <p:cNvSpPr/>
          <p:nvPr/>
        </p:nvSpPr>
        <p:spPr>
          <a:xfrm>
            <a:off x="8983980" y="4800600"/>
            <a:ext cx="2628900" cy="1508760"/>
          </a:xfrm>
          <a:prstGeom prst="roundRect">
            <a:avLst>
              <a:gd name="adj" fmla="val 7273"/>
            </a:avLst>
          </a:prstGeom>
          <a:solidFill>
            <a:schemeClr val="bg2"/>
          </a:solidFill>
          <a:ln/>
        </p:spPr>
      </p:sp>
      <p:sp>
        <p:nvSpPr>
          <p:cNvPr id="16" name="Result value 4"/>
          <p:cNvSpPr txBox="1"/>
          <p:nvPr/>
        </p:nvSpPr>
        <p:spPr>
          <a:xfrm>
            <a:off x="9166860" y="4846320"/>
            <a:ext cx="2286000" cy="50292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a:t>
            </a:r>
            <a:endParaRPr lang="en-US" sz="2600" dirty="0"/>
          </a:p>
        </p:txBody>
      </p:sp>
      <p:sp>
        <p:nvSpPr>
          <p:cNvPr id="17" name="Result label 4"/>
          <p:cNvSpPr txBox="1"/>
          <p:nvPr/>
        </p:nvSpPr>
        <p:spPr>
          <a:xfrm>
            <a:off x="9166860" y="5376672"/>
            <a:ext cx="2286000" cy="868680"/>
          </a:xfrm>
          <a:prstGeom prst="rect">
            <a:avLst/>
          </a:prstGeom>
          <a:noFill/>
          <a:ln/>
        </p:spPr>
        <p:txBody>
          <a:bodyPr wrap="square" lIns="0" tIns="0" rIns="0" bIns="0" rtlCol="0" anchor="t"/>
          <a:lstStyle/>
          <a:p>
            <a:pPr indent="0" marL="0">
              <a:buNone/>
            </a:pPr>
            <a:r>
              <a:rPr lang="en-US" sz="1200" dirty="0">
                <a:solidFill>
                  <a:schemeClr val="tx1"/>
                </a:solidFill>
              </a:rPr>
              <a:t>research gaps found; 99.5% of combinations appeared only once</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bg1"/>
                </a:solidFill>
              </a:rPr>
              <a:t>Conclusion</a:t>
            </a:r>
            <a:endParaRPr lang="en-US" sz="3400" dirty="0"/>
          </a:p>
        </p:txBody>
      </p:sp>
      <p:sp>
        <p:nvSpPr>
          <p:cNvPr id="3" name="Conclusion card 1"/>
          <p:cNvSpPr/>
          <p:nvPr/>
        </p:nvSpPr>
        <p:spPr>
          <a:xfrm>
            <a:off x="548640" y="1371600"/>
            <a:ext cx="5440680" cy="1828800"/>
          </a:xfrm>
          <a:prstGeom prst="roundRect">
            <a:avLst>
              <a:gd name="adj" fmla="val 6000"/>
            </a:avLst>
          </a:prstGeom>
          <a:solidFill>
            <a:srgbClr val="145665"/>
          </a:solidFill>
          <a:ln/>
        </p:spPr>
      </p:sp>
      <p:sp>
        <p:nvSpPr>
          <p:cNvPr id="4" name="RQ tag 1"/>
          <p:cNvSpPr txBox="1"/>
          <p:nvPr/>
        </p:nvSpPr>
        <p:spPr>
          <a:xfrm>
            <a:off x="777240" y="1572768"/>
            <a:ext cx="822960" cy="384048"/>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tx2"/>
                </a:solidFill>
              </a:rPr>
              <a:t>RQ1</a:t>
            </a:r>
            <a:endParaRPr lang="en-US" sz="1400" dirty="0"/>
          </a:p>
        </p:txBody>
      </p:sp>
      <p:sp>
        <p:nvSpPr>
          <p:cNvPr id="5" name="Conclusion heading 1"/>
          <p:cNvSpPr txBox="1"/>
          <p:nvPr/>
        </p:nvSpPr>
        <p:spPr>
          <a:xfrm>
            <a:off x="1737360" y="1554480"/>
            <a:ext cx="4023360" cy="420624"/>
          </a:xfrm>
          <a:prstGeom prst="rect">
            <a:avLst/>
          </a:prstGeom>
          <a:noFill/>
          <a:ln/>
        </p:spPr>
        <p:txBody>
          <a:bodyPr wrap="square" lIns="0" tIns="0" rIns="0" bIns="0" rtlCol="0" anchor="ctr"/>
          <a:lstStyle/>
          <a:p>
            <a:pPr indent="0" marL="0">
              <a:buNone/>
            </a:pPr>
            <a:r>
              <a:rPr lang="en-US" sz="1800" b="1" dirty="0">
                <a:solidFill>
                  <a:schemeClr val="bg1"/>
                </a:solidFill>
              </a:rPr>
              <a:t>Off-topic papers</a:t>
            </a:r>
            <a:endParaRPr lang="en-US" sz="1800" dirty="0"/>
          </a:p>
        </p:txBody>
      </p:sp>
      <p:sp>
        <p:nvSpPr>
          <p:cNvPr id="6" name="Conclusion text 1"/>
          <p:cNvSpPr txBox="1"/>
          <p:nvPr/>
        </p:nvSpPr>
        <p:spPr>
          <a:xfrm>
            <a:off x="777240" y="2057400"/>
            <a:ext cx="4983480" cy="1097280"/>
          </a:xfrm>
          <a:prstGeom prst="rect">
            <a:avLst/>
          </a:prstGeom>
          <a:noFill/>
          <a:ln/>
        </p:spPr>
        <p:txBody>
          <a:bodyPr wrap="square" lIns="0" tIns="0" rIns="0" bIns="0" rtlCol="0" anchor="t"/>
          <a:lstStyle/>
          <a:p>
            <a:pPr indent="0" marL="0">
              <a:buNone/>
            </a:pPr>
            <a:r>
              <a:rPr lang="en-US" sz="1400" dirty="0">
                <a:solidFill>
                  <a:schemeClr val="bg1"/>
                </a:solidFill>
              </a:rPr>
              <a:t>Early versions had many off-topic papers. The strict rule gave a consistent but not fully clean collection of 1,951 papers: 95 (4.9%) matched only “GNN”, mostly from 2015–2017.</a:t>
            </a:r>
            <a:endParaRPr lang="en-US" sz="1400" dirty="0"/>
          </a:p>
        </p:txBody>
      </p:sp>
      <p:sp>
        <p:nvSpPr>
          <p:cNvPr id="7" name="Conclusion card 2"/>
          <p:cNvSpPr/>
          <p:nvPr/>
        </p:nvSpPr>
        <p:spPr>
          <a:xfrm>
            <a:off x="6172200" y="1371600"/>
            <a:ext cx="5440680" cy="1828800"/>
          </a:xfrm>
          <a:prstGeom prst="roundRect">
            <a:avLst>
              <a:gd name="adj" fmla="val 6000"/>
            </a:avLst>
          </a:prstGeom>
          <a:solidFill>
            <a:srgbClr val="145665"/>
          </a:solidFill>
          <a:ln/>
        </p:spPr>
      </p:sp>
      <p:sp>
        <p:nvSpPr>
          <p:cNvPr id="8" name="RQ tag 2"/>
          <p:cNvSpPr txBox="1"/>
          <p:nvPr/>
        </p:nvSpPr>
        <p:spPr>
          <a:xfrm>
            <a:off x="6400800" y="1572768"/>
            <a:ext cx="822960" cy="384048"/>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tx2"/>
                </a:solidFill>
              </a:rPr>
              <a:t>RQ2</a:t>
            </a:r>
            <a:endParaRPr lang="en-US" sz="1400" dirty="0"/>
          </a:p>
        </p:txBody>
      </p:sp>
      <p:sp>
        <p:nvSpPr>
          <p:cNvPr id="9" name="Conclusion heading 2"/>
          <p:cNvSpPr txBox="1"/>
          <p:nvPr/>
        </p:nvSpPr>
        <p:spPr>
          <a:xfrm>
            <a:off x="7360920" y="1554480"/>
            <a:ext cx="4023360" cy="420624"/>
          </a:xfrm>
          <a:prstGeom prst="rect">
            <a:avLst/>
          </a:prstGeom>
          <a:noFill/>
          <a:ln/>
        </p:spPr>
        <p:txBody>
          <a:bodyPr wrap="square" lIns="0" tIns="0" rIns="0" bIns="0" rtlCol="0" anchor="ctr"/>
          <a:lstStyle/>
          <a:p>
            <a:pPr indent="0" marL="0">
              <a:buNone/>
            </a:pPr>
            <a:r>
              <a:rPr lang="en-US" sz="1800" b="1" dirty="0">
                <a:solidFill>
                  <a:schemeClr val="bg1"/>
                </a:solidFill>
              </a:rPr>
              <a:t>Search methods</a:t>
            </a:r>
            <a:endParaRPr lang="en-US" sz="1800" dirty="0"/>
          </a:p>
        </p:txBody>
      </p:sp>
      <p:sp>
        <p:nvSpPr>
          <p:cNvPr id="10" name="Conclusion text 2"/>
          <p:cNvSpPr txBox="1"/>
          <p:nvPr/>
        </p:nvSpPr>
        <p:spPr>
          <a:xfrm>
            <a:off x="6400800" y="2057400"/>
            <a:ext cx="4983480" cy="1097280"/>
          </a:xfrm>
          <a:prstGeom prst="rect">
            <a:avLst/>
          </a:prstGeom>
          <a:noFill/>
          <a:ln/>
        </p:spPr>
        <p:txBody>
          <a:bodyPr wrap="square" lIns="0" tIns="0" rIns="0" bIns="0" rtlCol="0" anchor="t"/>
          <a:lstStyle/>
          <a:p>
            <a:pPr indent="0" marL="0">
              <a:buNone/>
            </a:pPr>
            <a:r>
              <a:rPr lang="en-US" sz="1400" dirty="0">
                <a:solidFill>
                  <a:schemeClr val="bg1"/>
                </a:solidFill>
              </a:rPr>
              <a:t>Meaning-based search scored highest (0.568, vs 0.533 for the mix and 0.490 for keywords), but after statistical correction the differences could be luck (p = 0.41).</a:t>
            </a:r>
            <a:endParaRPr lang="en-US" sz="1400" dirty="0"/>
          </a:p>
        </p:txBody>
      </p:sp>
      <p:sp>
        <p:nvSpPr>
          <p:cNvPr id="11" name="Conclusion card 3"/>
          <p:cNvSpPr/>
          <p:nvPr/>
        </p:nvSpPr>
        <p:spPr>
          <a:xfrm>
            <a:off x="548640" y="3383280"/>
            <a:ext cx="5440680" cy="1828800"/>
          </a:xfrm>
          <a:prstGeom prst="roundRect">
            <a:avLst>
              <a:gd name="adj" fmla="val 6000"/>
            </a:avLst>
          </a:prstGeom>
          <a:solidFill>
            <a:srgbClr val="145665"/>
          </a:solidFill>
          <a:ln/>
        </p:spPr>
      </p:sp>
      <p:sp>
        <p:nvSpPr>
          <p:cNvPr id="12" name="RQ tag 3"/>
          <p:cNvSpPr txBox="1"/>
          <p:nvPr/>
        </p:nvSpPr>
        <p:spPr>
          <a:xfrm>
            <a:off x="777240" y="3584448"/>
            <a:ext cx="822960" cy="384048"/>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tx2"/>
                </a:solidFill>
              </a:rPr>
              <a:t>RQ3</a:t>
            </a:r>
            <a:endParaRPr lang="en-US" sz="1400" dirty="0"/>
          </a:p>
        </p:txBody>
      </p:sp>
      <p:sp>
        <p:nvSpPr>
          <p:cNvPr id="13" name="Conclusion heading 3"/>
          <p:cNvSpPr txBox="1"/>
          <p:nvPr/>
        </p:nvSpPr>
        <p:spPr>
          <a:xfrm>
            <a:off x="1737360" y="3566160"/>
            <a:ext cx="4023360" cy="420624"/>
          </a:xfrm>
          <a:prstGeom prst="rect">
            <a:avLst/>
          </a:prstGeom>
          <a:noFill/>
          <a:ln/>
        </p:spPr>
        <p:txBody>
          <a:bodyPr wrap="square" lIns="0" tIns="0" rIns="0" bIns="0" rtlCol="0" anchor="ctr"/>
          <a:lstStyle/>
          <a:p>
            <a:pPr indent="0" marL="0">
              <a:buNone/>
            </a:pPr>
            <a:r>
              <a:rPr lang="en-US" sz="1800" b="1" dirty="0">
                <a:solidFill>
                  <a:schemeClr val="bg1"/>
                </a:solidFill>
              </a:rPr>
              <a:t>AI fact extraction</a:t>
            </a:r>
            <a:endParaRPr lang="en-US" sz="1800" dirty="0"/>
          </a:p>
        </p:txBody>
      </p:sp>
      <p:sp>
        <p:nvSpPr>
          <p:cNvPr id="14" name="Conclusion text 3"/>
          <p:cNvSpPr txBox="1"/>
          <p:nvPr/>
        </p:nvSpPr>
        <p:spPr>
          <a:xfrm>
            <a:off x="777240" y="4069080"/>
            <a:ext cx="4983480" cy="1097280"/>
          </a:xfrm>
          <a:prstGeom prst="rect">
            <a:avLst/>
          </a:prstGeom>
          <a:noFill/>
          <a:ln/>
        </p:spPr>
        <p:txBody>
          <a:bodyPr wrap="square" lIns="0" tIns="0" rIns="0" bIns="0" rtlCol="0" anchor="t"/>
          <a:lstStyle/>
          <a:p>
            <a:pPr indent="0" marL="0">
              <a:buNone/>
            </a:pPr>
            <a:r>
              <a:rPr lang="en-US" sz="1400" dirty="0">
                <a:solidFill>
                  <a:schemeClr val="bg1"/>
                </a:solidFill>
              </a:rPr>
              <a:t>All 1,951 papers were processed and 7,031 quoted facts were found in the abstracts. Match with humans was 0.50 to 0.91 when meaning counts, but near zero for exact wording.</a:t>
            </a:r>
            <a:endParaRPr lang="en-US" sz="1400" dirty="0"/>
          </a:p>
        </p:txBody>
      </p:sp>
      <p:sp>
        <p:nvSpPr>
          <p:cNvPr id="15" name="Conclusion card 4"/>
          <p:cNvSpPr/>
          <p:nvPr/>
        </p:nvSpPr>
        <p:spPr>
          <a:xfrm>
            <a:off x="6172200" y="3383280"/>
            <a:ext cx="5440680" cy="1828800"/>
          </a:xfrm>
          <a:prstGeom prst="roundRect">
            <a:avLst>
              <a:gd name="adj" fmla="val 6000"/>
            </a:avLst>
          </a:prstGeom>
          <a:solidFill>
            <a:srgbClr val="145665"/>
          </a:solidFill>
          <a:ln/>
        </p:spPr>
      </p:sp>
      <p:sp>
        <p:nvSpPr>
          <p:cNvPr id="16" name="RQ tag 4"/>
          <p:cNvSpPr txBox="1"/>
          <p:nvPr/>
        </p:nvSpPr>
        <p:spPr>
          <a:xfrm>
            <a:off x="6400800" y="3584448"/>
            <a:ext cx="822960" cy="384048"/>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tx2"/>
                </a:solidFill>
              </a:rPr>
              <a:t>RQ4</a:t>
            </a:r>
            <a:endParaRPr lang="en-US" sz="1400" dirty="0"/>
          </a:p>
        </p:txBody>
      </p:sp>
      <p:sp>
        <p:nvSpPr>
          <p:cNvPr id="17" name="Conclusion heading 4"/>
          <p:cNvSpPr txBox="1"/>
          <p:nvPr/>
        </p:nvSpPr>
        <p:spPr>
          <a:xfrm>
            <a:off x="7360920" y="3566160"/>
            <a:ext cx="4023360" cy="420624"/>
          </a:xfrm>
          <a:prstGeom prst="rect">
            <a:avLst/>
          </a:prstGeom>
          <a:noFill/>
          <a:ln/>
        </p:spPr>
        <p:txBody>
          <a:bodyPr wrap="square" lIns="0" tIns="0" rIns="0" bIns="0" rtlCol="0" anchor="ctr"/>
          <a:lstStyle/>
          <a:p>
            <a:pPr indent="0" marL="0">
              <a:buNone/>
            </a:pPr>
            <a:r>
              <a:rPr lang="en-US" sz="1800" b="1" dirty="0">
                <a:solidFill>
                  <a:schemeClr val="bg1"/>
                </a:solidFill>
              </a:rPr>
              <a:t>Research gaps</a:t>
            </a:r>
            <a:endParaRPr lang="en-US" sz="1800" dirty="0"/>
          </a:p>
        </p:txBody>
      </p:sp>
      <p:sp>
        <p:nvSpPr>
          <p:cNvPr id="18" name="Conclusion text 4"/>
          <p:cNvSpPr txBox="1"/>
          <p:nvPr/>
        </p:nvSpPr>
        <p:spPr>
          <a:xfrm>
            <a:off x="6400800" y="4069080"/>
            <a:ext cx="4983480" cy="1097280"/>
          </a:xfrm>
          <a:prstGeom prst="rect">
            <a:avLst/>
          </a:prstGeom>
          <a:noFill/>
          <a:ln/>
        </p:spPr>
        <p:txBody>
          <a:bodyPr wrap="square" lIns="0" tIns="0" rIns="0" bIns="0" rtlCol="0" anchor="t"/>
          <a:lstStyle/>
          <a:p>
            <a:pPr indent="0" marL="0">
              <a:buNone/>
            </a:pPr>
            <a:r>
              <a:rPr lang="en-US" sz="1400" dirty="0">
                <a:solidFill>
                  <a:schemeClr val="bg1"/>
                </a:solidFill>
              </a:rPr>
              <a:t>The rarity test found no research-gap candidates. The pipeline is useful for organising papers, but not yet a proven research-gap finder.</a:t>
            </a:r>
            <a:endParaRPr lang="en-US" sz="1400" dirty="0"/>
          </a:p>
        </p:txBody>
      </p:sp>
      <p:sp>
        <p:nvSpPr>
          <p:cNvPr id="19" name="Closing statement"/>
          <p:cNvSpPr txBox="1"/>
          <p:nvPr/>
        </p:nvSpPr>
        <p:spPr>
          <a:xfrm>
            <a:off x="548640" y="5486400"/>
            <a:ext cx="11064240" cy="731520"/>
          </a:xfrm>
          <a:prstGeom prst="rect">
            <a:avLst/>
          </a:prstGeom>
          <a:noFill/>
          <a:ln/>
        </p:spPr>
        <p:txBody>
          <a:bodyPr wrap="square" lIns="0" tIns="0" rIns="0" bIns="0" rtlCol="0" anchor="ctr"/>
          <a:lstStyle/>
          <a:p>
            <a:pPr algn="l" indent="0" marL="0">
              <a:buNone/>
            </a:pPr>
            <a:r>
              <a:rPr lang="en-US" sz="2200" b="1" i="1" dirty="0">
                <a:solidFill>
                  <a:schemeClr val="accent3"/>
                </a:solidFill>
                <a:latin typeface="Cambria" pitchFamily="34" charset="0"/>
                <a:ea typeface="Cambria" pitchFamily="34" charset="-122"/>
                <a:cs typeface="Cambria" pitchFamily="34" charset="-120"/>
              </a:rPr>
              <a:t>Whether an AI’s “research gap” can be trusted depends on checking the papers and the scoring behind it.</a:t>
            </a:r>
            <a:endParaRPr lang="en-US" sz="2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References</a:t>
            </a:r>
            <a:endParaRPr lang="en-US" sz="3400" dirty="0"/>
          </a:p>
        </p:txBody>
      </p:sp>
      <p:sp>
        <p:nvSpPr>
          <p:cNvPr id="3" name="References left"/>
          <p:cNvSpPr txBox="1"/>
          <p:nvPr/>
        </p:nvSpPr>
        <p:spPr>
          <a:xfrm>
            <a:off x="548640" y="1325880"/>
            <a:ext cx="5440680" cy="4937760"/>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Agarwal, S., et al. (2024). LitLLM: A toolkit for scientific literature review. </a:t>
            </a:r>
            <a:pPr indent="0" marL="0">
              <a:spcAft>
                <a:spcPts val="500"/>
              </a:spcAft>
              <a:buNone/>
            </a:pPr>
            <a:r>
              <a:rPr lang="en-US" sz="1250" i="1" dirty="0">
                <a:solidFill>
                  <a:schemeClr val="tx1"/>
                </a:solidFill>
              </a:rPr>
              <a:t>arXiv. https://doi.org/10.48550/arXiv.2402.01788</a:t>
            </a:r>
            <a:endParaRPr lang="en-US" sz="1250" dirty="0"/>
          </a:p>
          <a:p>
            <a:pPr indent="0" marL="0">
              <a:spcAft>
                <a:spcPts val="500"/>
              </a:spcAft>
              <a:buNone/>
            </a:pPr>
            <a:r>
              <a:rPr lang="en-US" sz="1250" dirty="0">
                <a:solidFill>
                  <a:schemeClr val="tx1"/>
                </a:solidFill>
              </a:rPr>
              <a:t>Benjamini, Y., &amp; Hochberg, Y. (1995). Controlling the false discovery rate: A practical and powerful approach to multiple testing. </a:t>
            </a:r>
            <a:pPr indent="0" marL="0">
              <a:spcAft>
                <a:spcPts val="500"/>
              </a:spcAft>
              <a:buNone/>
            </a:pPr>
            <a:r>
              <a:rPr lang="en-US" sz="1250" i="1" dirty="0">
                <a:solidFill>
                  <a:schemeClr val="tx1"/>
                </a:solidFill>
              </a:rPr>
              <a:t>Journal of the Royal Statistical Society: Series B, 57(1), 289–300.</a:t>
            </a:r>
            <a:endParaRPr lang="en-US" sz="1250" dirty="0"/>
          </a:p>
          <a:p>
            <a:pPr indent="0" marL="0">
              <a:spcAft>
                <a:spcPts val="500"/>
              </a:spcAft>
              <a:buNone/>
            </a:pPr>
            <a:r>
              <a:rPr lang="en-US" sz="1250" dirty="0">
                <a:solidFill>
                  <a:schemeClr val="tx1"/>
                </a:solidFill>
              </a:rPr>
              <a:t>Cormack, G. V., Clarke, C. L. A., &amp; Büttcher, S. (2009). Reciprocal rank fusion outperforms Condorcet and individual rank learning methods. </a:t>
            </a:r>
            <a:pPr indent="0" marL="0">
              <a:spcAft>
                <a:spcPts val="500"/>
              </a:spcAft>
              <a:buNone/>
            </a:pPr>
            <a:r>
              <a:rPr lang="en-US" sz="1250" i="1" dirty="0">
                <a:solidFill>
                  <a:schemeClr val="tx1"/>
                </a:solidFill>
              </a:rPr>
              <a:t>Proc. 32nd ACM SIGIR (pp. 758–759).</a:t>
            </a:r>
            <a:endParaRPr lang="en-US" sz="1250" dirty="0"/>
          </a:p>
          <a:p>
            <a:pPr indent="0" marL="0">
              <a:spcAft>
                <a:spcPts val="500"/>
              </a:spcAft>
              <a:buNone/>
            </a:pPr>
            <a:r>
              <a:rPr lang="en-US" sz="1250" dirty="0">
                <a:solidFill>
                  <a:schemeClr val="tx1"/>
                </a:solidFill>
              </a:rPr>
              <a:t>Efron, B. (1979). Bootstrap methods: Another look at the jackknife. </a:t>
            </a:r>
            <a:pPr indent="0" marL="0">
              <a:spcAft>
                <a:spcPts val="500"/>
              </a:spcAft>
              <a:buNone/>
            </a:pPr>
            <a:r>
              <a:rPr lang="en-US" sz="1250" i="1" dirty="0">
                <a:solidFill>
                  <a:schemeClr val="tx1"/>
                </a:solidFill>
              </a:rPr>
              <a:t>The Annals of Statistics, 7(1), 1–26.</a:t>
            </a:r>
            <a:endParaRPr lang="en-US" sz="1250" dirty="0"/>
          </a:p>
          <a:p>
            <a:pPr indent="0" marL="0">
              <a:spcAft>
                <a:spcPts val="500"/>
              </a:spcAft>
              <a:buNone/>
            </a:pPr>
            <a:r>
              <a:rPr lang="en-US" sz="1250" dirty="0">
                <a:solidFill>
                  <a:schemeClr val="tx1"/>
                </a:solidFill>
              </a:rPr>
              <a:t>Gilmer, J., et al. (2017). Neural message passing for quantum chemistry. </a:t>
            </a:r>
            <a:pPr indent="0" marL="0">
              <a:spcAft>
                <a:spcPts val="500"/>
              </a:spcAft>
              <a:buNone/>
            </a:pPr>
            <a:r>
              <a:rPr lang="en-US" sz="1250" i="1" dirty="0">
                <a:solidFill>
                  <a:schemeClr val="tx1"/>
                </a:solidFill>
              </a:rPr>
              <a:t>Proc. 34th ICML (PMLR 70, pp. 1263–1272).</a:t>
            </a:r>
            <a:endParaRPr lang="en-US" sz="1250" dirty="0"/>
          </a:p>
          <a:p>
            <a:pPr indent="0" marL="0">
              <a:spcAft>
                <a:spcPts val="500"/>
              </a:spcAft>
              <a:buNone/>
            </a:pPr>
            <a:r>
              <a:rPr lang="en-US" sz="1250" dirty="0">
                <a:solidFill>
                  <a:schemeClr val="tx1"/>
                </a:solidFill>
              </a:rPr>
              <a:t>Holm, S. (1979). A simple sequentially rejective multiple test procedure. </a:t>
            </a:r>
            <a:pPr indent="0" marL="0">
              <a:spcAft>
                <a:spcPts val="500"/>
              </a:spcAft>
              <a:buNone/>
            </a:pPr>
            <a:r>
              <a:rPr lang="en-US" sz="1250" i="1" dirty="0">
                <a:solidFill>
                  <a:schemeClr val="tx1"/>
                </a:solidFill>
              </a:rPr>
              <a:t>Scandinavian Journal of Statistics, 6(2), 65–70.</a:t>
            </a:r>
            <a:endParaRPr lang="en-US" sz="1250" dirty="0"/>
          </a:p>
          <a:p>
            <a:pPr indent="0" marL="0">
              <a:spcAft>
                <a:spcPts val="500"/>
              </a:spcAft>
              <a:buNone/>
            </a:pPr>
            <a:r>
              <a:rPr lang="en-US" sz="1250" dirty="0">
                <a:solidFill>
                  <a:schemeClr val="tx1"/>
                </a:solidFill>
              </a:rPr>
              <a:t>Järvelin, K., &amp; Kekäläinen, J. (2002). Cumulated gain-based evaluation of IR techniques. </a:t>
            </a:r>
            <a:pPr indent="0" marL="0">
              <a:spcAft>
                <a:spcPts val="500"/>
              </a:spcAft>
              <a:buNone/>
            </a:pPr>
            <a:r>
              <a:rPr lang="en-US" sz="1250" i="1" dirty="0">
                <a:solidFill>
                  <a:schemeClr val="tx1"/>
                </a:solidFill>
              </a:rPr>
              <a:t>ACM TOIS, 20(4), 422–446.</a:t>
            </a:r>
            <a:endParaRPr lang="en-US" sz="1250" dirty="0"/>
          </a:p>
          <a:p>
            <a:pPr indent="0" marL="0">
              <a:spcAft>
                <a:spcPts val="500"/>
              </a:spcAft>
              <a:buNone/>
            </a:pPr>
            <a:r>
              <a:rPr lang="en-US" sz="1250" dirty="0">
                <a:solidFill>
                  <a:schemeClr val="tx1"/>
                </a:solidFill>
              </a:rPr>
              <a:t>Kipf, T. N., &amp; Welling, M. (2017). Semi-supervised classification with graph convolutional networks. </a:t>
            </a:r>
            <a:pPr indent="0" marL="0">
              <a:spcAft>
                <a:spcPts val="500"/>
              </a:spcAft>
              <a:buNone/>
            </a:pPr>
            <a:r>
              <a:rPr lang="en-US" sz="1250" i="1" dirty="0">
                <a:solidFill>
                  <a:schemeClr val="tx1"/>
                </a:solidFill>
              </a:rPr>
              <a:t>ICLR.</a:t>
            </a:r>
            <a:endParaRPr lang="en-US" sz="1250" dirty="0"/>
          </a:p>
          <a:p>
            <a:pPr indent="0" marL="0">
              <a:spcAft>
                <a:spcPts val="500"/>
              </a:spcAft>
              <a:buNone/>
            </a:pPr>
            <a:r>
              <a:rPr lang="en-US" sz="1250" dirty="0">
                <a:solidFill>
                  <a:schemeClr val="tx1"/>
                </a:solidFill>
              </a:rPr>
              <a:t>Page, M. J., et al. (2021). The PRISMA 2020 statement: An updated guideline for reporting systematic reviews. </a:t>
            </a:r>
            <a:pPr indent="0" marL="0">
              <a:spcAft>
                <a:spcPts val="500"/>
              </a:spcAft>
              <a:buNone/>
            </a:pPr>
            <a:r>
              <a:rPr lang="en-US" sz="1250" i="1" dirty="0">
                <a:solidFill>
                  <a:schemeClr val="tx1"/>
                </a:solidFill>
              </a:rPr>
              <a:t>BMJ, 372, n71. https://doi.org/10.1136/bmj.n71</a:t>
            </a:r>
            <a:endParaRPr lang="en-US" sz="1250" dirty="0"/>
          </a:p>
        </p:txBody>
      </p:sp>
      <p:sp>
        <p:nvSpPr>
          <p:cNvPr id="4" name="References right"/>
          <p:cNvSpPr txBox="1"/>
          <p:nvPr/>
        </p:nvSpPr>
        <p:spPr>
          <a:xfrm>
            <a:off x="6172200" y="1325880"/>
            <a:ext cx="5440680" cy="4937760"/>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Priem, J., Piwowar, H., &amp; Orr, R. (2022). OpenAlex: A fully-open index of scholarly works, authors, venues, institutions, and concepts. </a:t>
            </a:r>
            <a:pPr indent="0" marL="0">
              <a:spcAft>
                <a:spcPts val="500"/>
              </a:spcAft>
              <a:buNone/>
            </a:pPr>
            <a:r>
              <a:rPr lang="en-US" sz="1250" i="1" dirty="0">
                <a:solidFill>
                  <a:schemeClr val="tx1"/>
                </a:solidFill>
              </a:rPr>
              <a:t>arXiv. https://arxiv.org/abs/2205.01833</a:t>
            </a:r>
            <a:endParaRPr lang="en-US" sz="1250" dirty="0"/>
          </a:p>
          <a:p>
            <a:pPr indent="0" marL="0">
              <a:spcAft>
                <a:spcPts val="500"/>
              </a:spcAft>
              <a:buNone/>
            </a:pPr>
            <a:r>
              <a:rPr lang="en-US" sz="1250" dirty="0">
                <a:solidFill>
                  <a:schemeClr val="tx1"/>
                </a:solidFill>
              </a:rPr>
              <a:t>Reimers, N., &amp; Gurevych, I. (2019). Sentence-BERT: Sentence embeddings using Siamese BERT-networks. </a:t>
            </a:r>
            <a:pPr indent="0" marL="0">
              <a:spcAft>
                <a:spcPts val="500"/>
              </a:spcAft>
              <a:buNone/>
            </a:pPr>
            <a:r>
              <a:rPr lang="en-US" sz="1250" i="1" dirty="0">
                <a:solidFill>
                  <a:schemeClr val="tx1"/>
                </a:solidFill>
              </a:rPr>
              <a:t>Proc. EMNLP-IJCNLP 2019 (pp. 3982–3992).</a:t>
            </a:r>
            <a:endParaRPr lang="en-US" sz="1250" dirty="0"/>
          </a:p>
          <a:p>
            <a:pPr indent="0" marL="0">
              <a:spcAft>
                <a:spcPts val="500"/>
              </a:spcAft>
              <a:buNone/>
            </a:pPr>
            <a:r>
              <a:rPr lang="en-US" sz="1250" dirty="0">
                <a:solidFill>
                  <a:schemeClr val="tx1"/>
                </a:solidFill>
              </a:rPr>
              <a:t>Robertson, S. E., et al. (1995). Okapi at TREC-3. </a:t>
            </a:r>
            <a:pPr indent="0" marL="0">
              <a:spcAft>
                <a:spcPts val="500"/>
              </a:spcAft>
              <a:buNone/>
            </a:pPr>
            <a:r>
              <a:rPr lang="en-US" sz="1250" i="1" dirty="0">
                <a:solidFill>
                  <a:schemeClr val="tx1"/>
                </a:solidFill>
              </a:rPr>
              <a:t>Proc. Third Text REtrieval Conference (NIST SP 500-225, pp. 109–126).</a:t>
            </a:r>
            <a:endParaRPr lang="en-US" sz="1250" dirty="0"/>
          </a:p>
          <a:p>
            <a:pPr indent="0" marL="0">
              <a:spcAft>
                <a:spcPts val="500"/>
              </a:spcAft>
              <a:buNone/>
            </a:pPr>
            <a:r>
              <a:rPr lang="en-US" sz="1250" dirty="0">
                <a:solidFill>
                  <a:schemeClr val="tx1"/>
                </a:solidFill>
              </a:rPr>
              <a:t>Swanson, D. R. (1986). Undiscovered public knowledge. </a:t>
            </a:r>
            <a:pPr indent="0" marL="0">
              <a:spcAft>
                <a:spcPts val="500"/>
              </a:spcAft>
              <a:buNone/>
            </a:pPr>
            <a:r>
              <a:rPr lang="en-US" sz="1250" i="1" dirty="0">
                <a:solidFill>
                  <a:schemeClr val="tx1"/>
                </a:solidFill>
              </a:rPr>
              <a:t>The Library Quarterly, 56(2), 103–118.</a:t>
            </a:r>
            <a:endParaRPr lang="en-US" sz="1250" dirty="0"/>
          </a:p>
          <a:p>
            <a:pPr indent="0" marL="0">
              <a:spcAft>
                <a:spcPts val="500"/>
              </a:spcAft>
              <a:buNone/>
            </a:pPr>
            <a:r>
              <a:rPr lang="en-US" sz="1250" dirty="0">
                <a:solidFill>
                  <a:schemeClr val="tx1"/>
                </a:solidFill>
              </a:rPr>
              <a:t>Wang, Q., Downey, D., Ji, H., &amp; Hope, T. (2024). SciMON: Scientific inspiration machines optimized for novelty. </a:t>
            </a:r>
            <a:pPr indent="0" marL="0">
              <a:spcAft>
                <a:spcPts val="500"/>
              </a:spcAft>
              <a:buNone/>
            </a:pPr>
            <a:r>
              <a:rPr lang="en-US" sz="1250" i="1" dirty="0">
                <a:solidFill>
                  <a:schemeClr val="tx1"/>
                </a:solidFill>
              </a:rPr>
              <a:t>Proc. 62nd ACL (Vol. 1). https://aclanthology.org/2024.acl-long.18</a:t>
            </a:r>
            <a:endParaRPr lang="en-US" sz="1250" dirty="0"/>
          </a:p>
          <a:p>
            <a:pPr indent="0" marL="0">
              <a:spcAft>
                <a:spcPts val="500"/>
              </a:spcAft>
              <a:buNone/>
            </a:pPr>
            <a:r>
              <a:rPr lang="en-US" sz="1250" dirty="0">
                <a:solidFill>
                  <a:schemeClr val="tx1"/>
                </a:solidFill>
              </a:rPr>
              <a:t>Wilcoxon, F. (1945). Individual comparisons by ranking methods. </a:t>
            </a:r>
            <a:pPr indent="0" marL="0">
              <a:spcAft>
                <a:spcPts val="500"/>
              </a:spcAft>
              <a:buNone/>
            </a:pPr>
            <a:r>
              <a:rPr lang="en-US" sz="1250" i="1" dirty="0">
                <a:solidFill>
                  <a:schemeClr val="tx1"/>
                </a:solidFill>
              </a:rPr>
              <a:t>Biometrics Bulletin, 1(6), 80–83.</a:t>
            </a:r>
            <a:endParaRPr lang="en-US" sz="1250" dirty="0"/>
          </a:p>
          <a:p>
            <a:pPr indent="0" marL="0">
              <a:spcAft>
                <a:spcPts val="500"/>
              </a:spcAft>
              <a:buNone/>
            </a:pPr>
            <a:r>
              <a:rPr lang="en-US" sz="1250" dirty="0">
                <a:solidFill>
                  <a:schemeClr val="tx1"/>
                </a:solidFill>
              </a:rPr>
              <a:t>Wu, S., et al. (2025). Automated literature research and review-generation method based on large language models. </a:t>
            </a:r>
            <a:pPr indent="0" marL="0">
              <a:spcAft>
                <a:spcPts val="500"/>
              </a:spcAft>
              <a:buNone/>
            </a:pPr>
            <a:r>
              <a:rPr lang="en-US" sz="1250" i="1" dirty="0">
                <a:solidFill>
                  <a:schemeClr val="tx1"/>
                </a:solidFill>
              </a:rPr>
              <a:t>National Science Review, 12(6), nwaf169. https://doi.org/10.1093/nsr/nwaf169</a:t>
            </a:r>
            <a:endParaRPr lang="en-US" sz="1250" dirty="0"/>
          </a:p>
          <a:p>
            <a:pPr indent="0" marL="0">
              <a:spcAft>
                <a:spcPts val="500"/>
              </a:spcAft>
              <a:buNone/>
            </a:pPr>
            <a:r>
              <a:rPr lang="en-US" sz="1250" dirty="0">
                <a:solidFill>
                  <a:schemeClr val="tx1"/>
                </a:solidFill>
              </a:rPr>
              <a:t>Xiao, S., Liu, Z., Zhang, P., Muennighoff, N., Lian, D., &amp; Nie, J.-Y. (2024). C-Pack: Packed resources for general Chinese embeddings. </a:t>
            </a:r>
            <a:pPr indent="0" marL="0">
              <a:spcAft>
                <a:spcPts val="500"/>
              </a:spcAft>
              <a:buNone/>
            </a:pPr>
            <a:r>
              <a:rPr lang="en-US" sz="1250" i="1" dirty="0">
                <a:solidFill>
                  <a:schemeClr val="tx1"/>
                </a:solidFill>
              </a:rPr>
              <a:t>Proc. 47th ACM SIGIR (pp. 641–649). https://doi.org/10.1145/3626772.3657878</a:t>
            </a:r>
            <a:endParaRPr lang="en-US" sz="12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GapAudit">
  <a:themeElements>
    <a:clrScheme name="GapAudit">
      <a:dk1>
        <a:srgbClr val="10212B"/>
      </a:dk1>
      <a:lt1>
        <a:srgbClr val="FFFFFF"/>
      </a:lt1>
      <a:dk2>
        <a:srgbClr val="0B3C49"/>
      </a:dk2>
      <a:lt2>
        <a:srgbClr val="EEF4F4"/>
      </a:lt2>
      <a:accent1>
        <a:srgbClr val="0B7A75"/>
      </a:accent1>
      <a:accent2>
        <a:srgbClr val="E4572E"/>
      </a:accent2>
      <a:accent3>
        <a:srgbClr val="F2B134"/>
      </a:accent3>
      <a:accent4>
        <a:srgbClr val="5B6C8F"/>
      </a:accent4>
      <a:accent5>
        <a:srgbClr val="8FB8B5"/>
      </a:accent5>
      <a:accent6>
        <a:srgbClr val="A63D40"/>
      </a:accent6>
      <a:hlink>
        <a:srgbClr val="0B7A75"/>
      </a:hlink>
      <a:folHlink>
        <a:srgbClr val="5B6C8F"/>
      </a:folHlink>
    </a:clrScheme>
    <a:fontScheme name="GapAud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Auditing the Evidence Behind Research-Gap Discovery</dc:title>
  <dc:subject>PptxGenJS Presentation</dc:subject>
  <dc:creator>Pratheeksha; Merel Riha D souza</dc:creator>
  <cp:lastModifiedBy>Pratheeksha; Merel Riha D souza</cp:lastModifiedBy>
  <cp:revision>1</cp:revision>
  <dcterms:created xsi:type="dcterms:W3CDTF">2026-10-22T01:20:37Z</dcterms:created>
  <dcterms:modified xsi:type="dcterms:W3CDTF">2026-10-22T01:20:37Z</dcterms:modified>
</cp:coreProperties>
</file>